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drawings/drawing4.xml" ContentType="application/vnd.openxmlformats-officedocument.drawingml.chartshapes+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drawings/drawing2.xml" ContentType="application/vnd.openxmlformats-officedocument.drawingml.chartshapes+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charts/chart8.xml" ContentType="application/vnd.openxmlformats-officedocument.drawingml.chart+xml"/>
  <Override PartName="/ppt/charts/chart9.xml" ContentType="application/vnd.openxmlformats-officedocument.drawingml.chart+xml"/>
  <Override PartName="/ppt/slideLayouts/slideLayout10.xml" ContentType="application/vnd.openxmlformats-officedocument.presentationml.slideLayout+xml"/>
  <Override PartName="/ppt/charts/chart6.xml" ContentType="application/vnd.openxmlformats-officedocument.drawingml.chart+xml"/>
  <Override PartName="/ppt/charts/chart7.xml" ContentType="application/vnd.openxmlformats-officedocument.drawingml.chart+xml"/>
  <Override PartName="/ppt/drawings/drawing9.xml" ContentType="application/vnd.openxmlformats-officedocument.drawingml.chartshapes+xml"/>
  <Override PartName="/ppt/charts/chart10.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drawings/drawing7.xml" ContentType="application/vnd.openxmlformats-officedocument.drawingml.chartshapes+xml"/>
  <Override PartName="/ppt/drawings/drawing8.xml" ContentType="application/vnd.openxmlformats-officedocument.drawingml.chartshapes+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ppt/drawings/drawing5.xml" ContentType="application/vnd.openxmlformats-officedocument.drawingml.chartshapes+xml"/>
  <Override PartName="/ppt/drawings/drawing6.xml" ContentType="application/vnd.openxmlformats-officedocument.drawingml.chartshapes+xml"/>
  <Override PartName="/ppt/drawings/drawing10.xml" ContentType="application/vnd.openxmlformats-officedocument.drawingml.chartshapes+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drawings/drawing3.xml" ContentType="application/vnd.openxmlformats-officedocument.drawingml.chartshapes+xml"/>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drawings/drawing1.xml" ContentType="application/vnd.openxmlformats-officedocument.drawingml.chartshap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111" autoAdjust="0"/>
    <p:restoredTop sz="94660"/>
  </p:normalViewPr>
  <p:slideViewPr>
    <p:cSldViewPr>
      <p:cViewPr varScale="1">
        <p:scale>
          <a:sx n="73" d="100"/>
          <a:sy n="73" d="100"/>
        </p:scale>
        <p:origin x="-1314" y="-108"/>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oleObject" Target="file:///E:\obu%20m\5593364Excel.xlsx" TargetMode="External"/></Relationships>
</file>

<file path=ppt/charts/_rels/chart2.xml.rels><?xml version="1.0" encoding="UTF-8" standalone="yes"?>
<Relationships xmlns="http://schemas.openxmlformats.org/package/2006/relationships"><Relationship Id="rId2" Type="http://schemas.openxmlformats.org/officeDocument/2006/relationships/chartUserShapes" Target="../drawings/drawing2.xml"/><Relationship Id="rId1" Type="http://schemas.openxmlformats.org/officeDocument/2006/relationships/oleObject" Target="file:///E:\obu%20m\5593364Excel.xlsx" TargetMode="External"/></Relationships>
</file>

<file path=ppt/charts/_rels/chart3.xml.rels><?xml version="1.0" encoding="UTF-8" standalone="yes"?>
<Relationships xmlns="http://schemas.openxmlformats.org/package/2006/relationships"><Relationship Id="rId2" Type="http://schemas.openxmlformats.org/officeDocument/2006/relationships/chartUserShapes" Target="../drawings/drawing3.xml"/><Relationship Id="rId1" Type="http://schemas.openxmlformats.org/officeDocument/2006/relationships/oleObject" Target="file:///E:\obu%20m\5593364Excel.xlsx" TargetMode="External"/></Relationships>
</file>

<file path=ppt/charts/_rels/chart4.xml.rels><?xml version="1.0" encoding="UTF-8" standalone="yes"?>
<Relationships xmlns="http://schemas.openxmlformats.org/package/2006/relationships"><Relationship Id="rId2" Type="http://schemas.openxmlformats.org/officeDocument/2006/relationships/chartUserShapes" Target="../drawings/drawing4.xml"/><Relationship Id="rId1" Type="http://schemas.openxmlformats.org/officeDocument/2006/relationships/oleObject" Target="file:///E:\obu%20m\5593364Excel.xlsx" TargetMode="External"/></Relationships>
</file>

<file path=ppt/charts/_rels/chart5.xml.rels><?xml version="1.0" encoding="UTF-8" standalone="yes"?>
<Relationships xmlns="http://schemas.openxmlformats.org/package/2006/relationships"><Relationship Id="rId2" Type="http://schemas.openxmlformats.org/officeDocument/2006/relationships/chartUserShapes" Target="../drawings/drawing5.xml"/><Relationship Id="rId1" Type="http://schemas.openxmlformats.org/officeDocument/2006/relationships/oleObject" Target="file:///E:\obu%20m\5593364Excel.xlsx" TargetMode="External"/></Relationships>
</file>

<file path=ppt/charts/_rels/chart6.xml.rels><?xml version="1.0" encoding="UTF-8" standalone="yes"?>
<Relationships xmlns="http://schemas.openxmlformats.org/package/2006/relationships"><Relationship Id="rId2" Type="http://schemas.openxmlformats.org/officeDocument/2006/relationships/chartUserShapes" Target="../drawings/drawing6.xml"/><Relationship Id="rId1" Type="http://schemas.openxmlformats.org/officeDocument/2006/relationships/oleObject" Target="file:///E:\obu%20m\5593364Excel.xlsx" TargetMode="External"/></Relationships>
</file>

<file path=ppt/charts/_rels/chart7.xml.rels><?xml version="1.0" encoding="UTF-8" standalone="yes"?>
<Relationships xmlns="http://schemas.openxmlformats.org/package/2006/relationships"><Relationship Id="rId2" Type="http://schemas.openxmlformats.org/officeDocument/2006/relationships/chartUserShapes" Target="../drawings/drawing7.xml"/><Relationship Id="rId1" Type="http://schemas.openxmlformats.org/officeDocument/2006/relationships/oleObject" Target="file:///E:\obu%20m\5593364Excel.xlsx" TargetMode="External"/></Relationships>
</file>

<file path=ppt/charts/_rels/chart8.xml.rels><?xml version="1.0" encoding="UTF-8" standalone="yes"?>
<Relationships xmlns="http://schemas.openxmlformats.org/package/2006/relationships"><Relationship Id="rId2" Type="http://schemas.openxmlformats.org/officeDocument/2006/relationships/chartUserShapes" Target="../drawings/drawing8.xml"/><Relationship Id="rId1" Type="http://schemas.openxmlformats.org/officeDocument/2006/relationships/oleObject" Target="file:///E:\obu%20m\5593364Excel.xlsx" TargetMode="External"/></Relationships>
</file>

<file path=ppt/charts/_rels/chart9.xml.rels><?xml version="1.0" encoding="UTF-8" standalone="yes"?>
<Relationships xmlns="http://schemas.openxmlformats.org/package/2006/relationships"><Relationship Id="rId2" Type="http://schemas.openxmlformats.org/officeDocument/2006/relationships/chartUserShapes" Target="../drawings/drawing9.xml"/><Relationship Id="rId1" Type="http://schemas.openxmlformats.org/officeDocument/2006/relationships/oleObject" Target="file:///E:\obu%20m\5593364Excel.xlsx" TargetMode="External"/></Relationships>
</file>

<file path=ppt/charts/_rels/chart10.xml.rels><?xml version="1.0" encoding="UTF-8" standalone="yes"?>
<Relationships xmlns="http://schemas.openxmlformats.org/package/2006/relationships"><Relationship Id="rId2" Type="http://schemas.openxmlformats.org/officeDocument/2006/relationships/chartUserShapes" Target="../drawings/drawing10.xml"/><Relationship Id="rId1" Type="http://schemas.openxmlformats.org/officeDocument/2006/relationships/oleObject" Target="file:///E:\obu%20m\5593364Excel.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1"/>
  <c:lang val="en-US"/>
  <c:chart>
    <c:title>
      <c:tx>
        <c:rich>
          <a:bodyPr/>
          <a:lstStyle/>
          <a:p>
            <a:pPr>
              <a:defRPr/>
            </a:pPr>
            <a:r>
              <a:rPr lang="en-US"/>
              <a:t>Gross</a:t>
            </a:r>
            <a:r>
              <a:rPr lang="en-US" baseline="0"/>
              <a:t> margin</a:t>
            </a:r>
            <a:endParaRPr lang="en-US"/>
          </a:p>
        </c:rich>
      </c:tx>
      <c:layout>
        <c:manualLayout>
          <c:xMode val="edge"/>
          <c:yMode val="edge"/>
          <c:x val="0.35107221006564593"/>
          <c:y val="2.7777777777777832E-2"/>
        </c:manualLayout>
      </c:layout>
    </c:title>
    <c:plotArea>
      <c:layout>
        <c:manualLayout>
          <c:layoutTarget val="inner"/>
          <c:xMode val="edge"/>
          <c:yMode val="edge"/>
          <c:x val="0.1256918049357616"/>
          <c:y val="0.19480351414406541"/>
          <c:w val="0.84221483255512231"/>
          <c:h val="0.4322160250801983"/>
        </c:manualLayout>
      </c:layout>
      <c:barChart>
        <c:barDir val="col"/>
        <c:grouping val="clustered"/>
        <c:ser>
          <c:idx val="0"/>
          <c:order val="0"/>
          <c:tx>
            <c:strRef>
              <c:f>Graphs!$B$50</c:f>
              <c:strCache>
                <c:ptCount val="1"/>
                <c:pt idx="0">
                  <c:v>The Coca-Cola Company</c:v>
                </c:pt>
              </c:strCache>
            </c:strRef>
          </c:tx>
          <c:spPr>
            <a:solidFill>
              <a:srgbClr val="C00000"/>
            </a:solidFill>
          </c:spPr>
          <c:cat>
            <c:strRef>
              <c:f>Graphs!$C$49:$E$49</c:f>
              <c:strCache>
                <c:ptCount val="3"/>
                <c:pt idx="0">
                  <c:v>FY2024</c:v>
                </c:pt>
                <c:pt idx="1">
                  <c:v>FY2023</c:v>
                </c:pt>
                <c:pt idx="2">
                  <c:v>FY2022</c:v>
                </c:pt>
              </c:strCache>
            </c:strRef>
          </c:cat>
          <c:val>
            <c:numRef>
              <c:f>Graphs!$C$50:$E$50</c:f>
              <c:numCache>
                <c:formatCode>0.00</c:formatCode>
                <c:ptCount val="3"/>
                <c:pt idx="0">
                  <c:v>61.063300822336963</c:v>
                </c:pt>
                <c:pt idx="1">
                  <c:v>59.522664685054856</c:v>
                </c:pt>
                <c:pt idx="2">
                  <c:v>58.143428518277375</c:v>
                </c:pt>
              </c:numCache>
            </c:numRef>
          </c:val>
        </c:ser>
        <c:ser>
          <c:idx val="1"/>
          <c:order val="1"/>
          <c:tx>
            <c:strRef>
              <c:f>Graphs!$B$51</c:f>
              <c:strCache>
                <c:ptCount val="1"/>
                <c:pt idx="0">
                  <c:v>PepsoCo.</c:v>
                </c:pt>
              </c:strCache>
            </c:strRef>
          </c:tx>
          <c:spPr>
            <a:solidFill>
              <a:schemeClr val="accent1">
                <a:lumMod val="75000"/>
              </a:schemeClr>
            </a:solidFill>
          </c:spPr>
          <c:cat>
            <c:strRef>
              <c:f>Graphs!$C$49:$E$49</c:f>
              <c:strCache>
                <c:ptCount val="3"/>
                <c:pt idx="0">
                  <c:v>FY2024</c:v>
                </c:pt>
                <c:pt idx="1">
                  <c:v>FY2023</c:v>
                </c:pt>
                <c:pt idx="2">
                  <c:v>FY2022</c:v>
                </c:pt>
              </c:strCache>
            </c:strRef>
          </c:cat>
          <c:val>
            <c:numRef>
              <c:f>Graphs!$C$51:$E$51</c:f>
              <c:numCache>
                <c:formatCode>0.00</c:formatCode>
                <c:ptCount val="3"/>
                <c:pt idx="0">
                  <c:v>54.553966076599828</c:v>
                </c:pt>
                <c:pt idx="1">
                  <c:v>54.213903860239853</c:v>
                </c:pt>
                <c:pt idx="2">
                  <c:v>53.032688211871481</c:v>
                </c:pt>
              </c:numCache>
            </c:numRef>
          </c:val>
        </c:ser>
        <c:gapWidth val="75"/>
        <c:overlap val="-25"/>
        <c:axId val="100380672"/>
        <c:axId val="100382592"/>
      </c:barChart>
      <c:catAx>
        <c:axId val="100380672"/>
        <c:scaling>
          <c:orientation val="minMax"/>
        </c:scaling>
        <c:axPos val="b"/>
        <c:majorTickMark val="none"/>
        <c:tickLblPos val="nextTo"/>
        <c:crossAx val="100382592"/>
        <c:crosses val="autoZero"/>
        <c:auto val="1"/>
        <c:lblAlgn val="ctr"/>
        <c:lblOffset val="100"/>
      </c:catAx>
      <c:valAx>
        <c:axId val="100382592"/>
        <c:scaling>
          <c:orientation val="minMax"/>
        </c:scaling>
        <c:axPos val="l"/>
        <c:majorGridlines/>
        <c:numFmt formatCode="0.00" sourceLinked="1"/>
        <c:majorTickMark val="none"/>
        <c:tickLblPos val="nextTo"/>
        <c:spPr>
          <a:ln w="9525">
            <a:noFill/>
          </a:ln>
        </c:spPr>
        <c:crossAx val="100380672"/>
        <c:crosses val="autoZero"/>
        <c:crossBetween val="between"/>
      </c:valAx>
    </c:plotArea>
    <c:legend>
      <c:legendPos val="b"/>
      <c:layout/>
    </c:legend>
    <c:plotVisOnly val="1"/>
  </c:chart>
  <c:externalData r:id="rId1"/>
  <c:userShapes r:id="rId2"/>
</c:chartSpace>
</file>

<file path=ppt/charts/chart2.xml><?xml version="1.0" encoding="utf-8"?>
<c:chartSpace xmlns:c="http://schemas.openxmlformats.org/drawingml/2006/chart" xmlns:a="http://schemas.openxmlformats.org/drawingml/2006/main" xmlns:r="http://schemas.openxmlformats.org/officeDocument/2006/relationships">
  <c:date1904 val="1"/>
  <c:lang val="en-US"/>
  <c:chart>
    <c:title>
      <c:tx>
        <c:rich>
          <a:bodyPr/>
          <a:lstStyle/>
          <a:p>
            <a:pPr>
              <a:defRPr/>
            </a:pPr>
            <a:r>
              <a:rPr lang="en-US"/>
              <a:t>Operating profit margin</a:t>
            </a:r>
          </a:p>
        </c:rich>
      </c:tx>
      <c:layout/>
    </c:title>
    <c:plotArea>
      <c:layout>
        <c:manualLayout>
          <c:layoutTarget val="inner"/>
          <c:xMode val="edge"/>
          <c:yMode val="edge"/>
          <c:x val="0.12487184754079653"/>
          <c:y val="0.19480351414406533"/>
          <c:w val="0.84324409448819082"/>
          <c:h val="0.40443824730242095"/>
        </c:manualLayout>
      </c:layout>
      <c:barChart>
        <c:barDir val="col"/>
        <c:grouping val="clustered"/>
        <c:ser>
          <c:idx val="0"/>
          <c:order val="0"/>
          <c:tx>
            <c:strRef>
              <c:f>Graphs!$B$28</c:f>
              <c:strCache>
                <c:ptCount val="1"/>
                <c:pt idx="0">
                  <c:v>The Coca-Cola Company</c:v>
                </c:pt>
              </c:strCache>
            </c:strRef>
          </c:tx>
          <c:spPr>
            <a:solidFill>
              <a:srgbClr val="C00000"/>
            </a:solidFill>
          </c:spPr>
          <c:cat>
            <c:strRef>
              <c:f>Graphs!$C$27:$E$27</c:f>
              <c:strCache>
                <c:ptCount val="3"/>
                <c:pt idx="0">
                  <c:v>FY2024</c:v>
                </c:pt>
                <c:pt idx="1">
                  <c:v>FY2023</c:v>
                </c:pt>
                <c:pt idx="2">
                  <c:v>FY2022</c:v>
                </c:pt>
              </c:strCache>
            </c:strRef>
          </c:cat>
          <c:val>
            <c:numRef>
              <c:f>Graphs!$C$28:$E$28</c:f>
              <c:numCache>
                <c:formatCode>0.00</c:formatCode>
                <c:ptCount val="3"/>
                <c:pt idx="0">
                  <c:v>21.232018019166613</c:v>
                </c:pt>
                <c:pt idx="1">
                  <c:v>24.721335839489431</c:v>
                </c:pt>
                <c:pt idx="2">
                  <c:v>25.367407683006228</c:v>
                </c:pt>
              </c:numCache>
            </c:numRef>
          </c:val>
        </c:ser>
        <c:ser>
          <c:idx val="1"/>
          <c:order val="1"/>
          <c:tx>
            <c:strRef>
              <c:f>Graphs!$B$29</c:f>
              <c:strCache>
                <c:ptCount val="1"/>
                <c:pt idx="0">
                  <c:v>PepsoCo.</c:v>
                </c:pt>
              </c:strCache>
            </c:strRef>
          </c:tx>
          <c:spPr>
            <a:solidFill>
              <a:schemeClr val="accent1">
                <a:lumMod val="75000"/>
              </a:schemeClr>
            </a:solidFill>
          </c:spPr>
          <c:cat>
            <c:strRef>
              <c:f>Graphs!$C$27:$E$27</c:f>
              <c:strCache>
                <c:ptCount val="3"/>
                <c:pt idx="0">
                  <c:v>FY2024</c:v>
                </c:pt>
                <c:pt idx="1">
                  <c:v>FY2023</c:v>
                </c:pt>
                <c:pt idx="2">
                  <c:v>FY2022</c:v>
                </c:pt>
              </c:strCache>
            </c:strRef>
          </c:cat>
          <c:val>
            <c:numRef>
              <c:f>Graphs!$C$29:$E$29</c:f>
              <c:numCache>
                <c:formatCode>0.00</c:formatCode>
                <c:ptCount val="3"/>
                <c:pt idx="0">
                  <c:v>14.029873494894064</c:v>
                </c:pt>
                <c:pt idx="1">
                  <c:v>13.103606607558687</c:v>
                </c:pt>
                <c:pt idx="2">
                  <c:v>13.325307898879526</c:v>
                </c:pt>
              </c:numCache>
            </c:numRef>
          </c:val>
        </c:ser>
        <c:gapWidth val="75"/>
        <c:overlap val="-25"/>
        <c:axId val="102435840"/>
        <c:axId val="102454016"/>
      </c:barChart>
      <c:catAx>
        <c:axId val="102435840"/>
        <c:scaling>
          <c:orientation val="minMax"/>
        </c:scaling>
        <c:axPos val="b"/>
        <c:majorTickMark val="none"/>
        <c:tickLblPos val="nextTo"/>
        <c:crossAx val="102454016"/>
        <c:crosses val="autoZero"/>
        <c:auto val="1"/>
        <c:lblAlgn val="ctr"/>
        <c:lblOffset val="100"/>
      </c:catAx>
      <c:valAx>
        <c:axId val="102454016"/>
        <c:scaling>
          <c:orientation val="minMax"/>
        </c:scaling>
        <c:axPos val="l"/>
        <c:majorGridlines/>
        <c:numFmt formatCode="0.00" sourceLinked="1"/>
        <c:majorTickMark val="none"/>
        <c:tickLblPos val="nextTo"/>
        <c:spPr>
          <a:ln w="9525">
            <a:noFill/>
          </a:ln>
        </c:spPr>
        <c:crossAx val="102435840"/>
        <c:crosses val="autoZero"/>
        <c:crossBetween val="between"/>
      </c:valAx>
    </c:plotArea>
    <c:legend>
      <c:legendPos val="b"/>
      <c:layout/>
    </c:legend>
    <c:plotVisOnly val="1"/>
  </c:chart>
  <c:externalData r:id="rId1"/>
  <c:userShapes r:id="rId2"/>
</c:chartSpace>
</file>

<file path=ppt/charts/chart3.xml><?xml version="1.0" encoding="utf-8"?>
<c:chartSpace xmlns:c="http://schemas.openxmlformats.org/drawingml/2006/chart" xmlns:a="http://schemas.openxmlformats.org/drawingml/2006/main" xmlns:r="http://schemas.openxmlformats.org/officeDocument/2006/relationships">
  <c:date1904 val="1"/>
  <c:lang val="en-US"/>
  <c:style val="18"/>
  <c:chart>
    <c:autoTitleDeleted val="1"/>
    <c:plotArea>
      <c:layout>
        <c:manualLayout>
          <c:layoutTarget val="inner"/>
          <c:xMode val="edge"/>
          <c:yMode val="edge"/>
          <c:x val="0.12804899387576582"/>
          <c:y val="0.16330225388493122"/>
          <c:w val="0.8487120809245251"/>
          <c:h val="0.5572473440819895"/>
        </c:manualLayout>
      </c:layout>
      <c:barChart>
        <c:barDir val="col"/>
        <c:grouping val="clustered"/>
        <c:ser>
          <c:idx val="0"/>
          <c:order val="0"/>
          <c:tx>
            <c:strRef>
              <c:f>Graphs!$B$6</c:f>
              <c:strCache>
                <c:ptCount val="1"/>
                <c:pt idx="0">
                  <c:v>The Coca-Cola Company</c:v>
                </c:pt>
              </c:strCache>
            </c:strRef>
          </c:tx>
          <c:spPr>
            <a:solidFill>
              <a:srgbClr val="C00000"/>
            </a:solidFill>
          </c:spPr>
          <c:dLbls>
            <c:showVal val="1"/>
          </c:dLbls>
          <c:cat>
            <c:strRef>
              <c:f>Graphs!$C$5:$E$5</c:f>
              <c:strCache>
                <c:ptCount val="3"/>
                <c:pt idx="0">
                  <c:v>FY2024</c:v>
                </c:pt>
                <c:pt idx="1">
                  <c:v>FY2023</c:v>
                </c:pt>
                <c:pt idx="2">
                  <c:v>FY2022</c:v>
                </c:pt>
              </c:strCache>
            </c:strRef>
          </c:cat>
          <c:val>
            <c:numRef>
              <c:f>Graphs!$C$6:$E$6</c:f>
              <c:numCache>
                <c:formatCode>0.00</c:formatCode>
                <c:ptCount val="3"/>
                <c:pt idx="0">
                  <c:v>13.269588313413021</c:v>
                </c:pt>
                <c:pt idx="1">
                  <c:v>15.257918307883237</c:v>
                </c:pt>
                <c:pt idx="2">
                  <c:v>14.935856186420954</c:v>
                </c:pt>
              </c:numCache>
            </c:numRef>
          </c:val>
        </c:ser>
        <c:ser>
          <c:idx val="1"/>
          <c:order val="1"/>
          <c:tx>
            <c:strRef>
              <c:f>Graphs!$B$7</c:f>
              <c:strCache>
                <c:ptCount val="1"/>
                <c:pt idx="0">
                  <c:v>PepsoCo.</c:v>
                </c:pt>
              </c:strCache>
            </c:strRef>
          </c:tx>
          <c:spPr>
            <a:solidFill>
              <a:schemeClr val="accent1"/>
            </a:solidFill>
          </c:spPr>
          <c:dLbls>
            <c:showVal val="1"/>
          </c:dLbls>
          <c:cat>
            <c:strRef>
              <c:f>Graphs!$C$5:$E$5</c:f>
              <c:strCache>
                <c:ptCount val="3"/>
                <c:pt idx="0">
                  <c:v>FY2024</c:v>
                </c:pt>
                <c:pt idx="1">
                  <c:v>FY2023</c:v>
                </c:pt>
                <c:pt idx="2">
                  <c:v>FY2022</c:v>
                </c:pt>
              </c:strCache>
            </c:strRef>
          </c:cat>
          <c:val>
            <c:numRef>
              <c:f>Graphs!$C$7:$E$7</c:f>
              <c:numCache>
                <c:formatCode>0.00</c:formatCode>
                <c:ptCount val="3"/>
                <c:pt idx="0">
                  <c:v>18.970720289705699</c:v>
                </c:pt>
                <c:pt idx="1">
                  <c:v>17.409365558912388</c:v>
                </c:pt>
                <c:pt idx="2">
                  <c:v>17.601908198526054</c:v>
                </c:pt>
              </c:numCache>
            </c:numRef>
          </c:val>
        </c:ser>
        <c:dLbls>
          <c:showVal val="1"/>
        </c:dLbls>
        <c:gapWidth val="75"/>
        <c:axId val="102487552"/>
        <c:axId val="102489088"/>
      </c:barChart>
      <c:catAx>
        <c:axId val="102487552"/>
        <c:scaling>
          <c:orientation val="minMax"/>
        </c:scaling>
        <c:axPos val="b"/>
        <c:majorTickMark val="none"/>
        <c:tickLblPos val="nextTo"/>
        <c:crossAx val="102489088"/>
        <c:crosses val="autoZero"/>
        <c:auto val="1"/>
        <c:lblAlgn val="ctr"/>
        <c:lblOffset val="100"/>
      </c:catAx>
      <c:valAx>
        <c:axId val="102489088"/>
        <c:scaling>
          <c:orientation val="minMax"/>
        </c:scaling>
        <c:axPos val="l"/>
        <c:numFmt formatCode="0.00" sourceLinked="1"/>
        <c:majorTickMark val="none"/>
        <c:tickLblPos val="nextTo"/>
        <c:crossAx val="102487552"/>
        <c:crosses val="autoZero"/>
        <c:crossBetween val="between"/>
      </c:valAx>
    </c:plotArea>
    <c:legend>
      <c:legendPos val="b"/>
      <c:layout/>
    </c:legend>
    <c:plotVisOnly val="1"/>
  </c:chart>
  <c:externalData r:id="rId1"/>
  <c:userShapes r:id="rId2"/>
</c:chartSpace>
</file>

<file path=ppt/charts/chart4.xml><?xml version="1.0" encoding="utf-8"?>
<c:chartSpace xmlns:c="http://schemas.openxmlformats.org/drawingml/2006/chart" xmlns:a="http://schemas.openxmlformats.org/drawingml/2006/main" xmlns:r="http://schemas.openxmlformats.org/officeDocument/2006/relationships">
  <c:date1904 val="1"/>
  <c:lang val="en-US"/>
  <c:chart>
    <c:title>
      <c:tx>
        <c:rich>
          <a:bodyPr/>
          <a:lstStyle/>
          <a:p>
            <a:pPr>
              <a:defRPr/>
            </a:pPr>
            <a:r>
              <a:rPr lang="en-US"/>
              <a:t>Return on</a:t>
            </a:r>
            <a:r>
              <a:rPr lang="en-US" baseline="0"/>
              <a:t> Equity</a:t>
            </a:r>
            <a:endParaRPr lang="en-US"/>
          </a:p>
        </c:rich>
      </c:tx>
      <c:layout>
        <c:manualLayout>
          <c:xMode val="edge"/>
          <c:yMode val="edge"/>
          <c:x val="0.29703349282296648"/>
          <c:y val="4.6296296296296412E-2"/>
        </c:manualLayout>
      </c:layout>
    </c:title>
    <c:plotArea>
      <c:layout>
        <c:manualLayout>
          <c:layoutTarget val="inner"/>
          <c:xMode val="edge"/>
          <c:yMode val="edge"/>
          <c:x val="0.13741877959035051"/>
          <c:y val="0.19480351414406533"/>
          <c:w val="0.83068329377488204"/>
          <c:h val="0.4322160250801983"/>
        </c:manualLayout>
      </c:layout>
      <c:barChart>
        <c:barDir val="col"/>
        <c:grouping val="clustered"/>
        <c:ser>
          <c:idx val="0"/>
          <c:order val="0"/>
          <c:tx>
            <c:strRef>
              <c:f>Graphs!$G$6</c:f>
              <c:strCache>
                <c:ptCount val="1"/>
                <c:pt idx="0">
                  <c:v>The Coca-Cola Company</c:v>
                </c:pt>
              </c:strCache>
            </c:strRef>
          </c:tx>
          <c:spPr>
            <a:solidFill>
              <a:srgbClr val="C00000"/>
            </a:solidFill>
          </c:spPr>
          <c:cat>
            <c:strRef>
              <c:f>Graphs!$H$5:$J$5</c:f>
              <c:strCache>
                <c:ptCount val="3"/>
                <c:pt idx="0">
                  <c:v>FY2024</c:v>
                </c:pt>
                <c:pt idx="1">
                  <c:v>FY2023</c:v>
                </c:pt>
                <c:pt idx="2">
                  <c:v>FY2022</c:v>
                </c:pt>
              </c:strCache>
            </c:strRef>
          </c:cat>
          <c:val>
            <c:numRef>
              <c:f>Graphs!$H$6:$J$6</c:f>
              <c:numCache>
                <c:formatCode>0.00</c:formatCode>
                <c:ptCount val="3"/>
                <c:pt idx="0">
                  <c:v>40.379948430153192</c:v>
                </c:pt>
                <c:pt idx="1">
                  <c:v>38.948326055312918</c:v>
                </c:pt>
                <c:pt idx="2">
                  <c:v>37.059552389065281</c:v>
                </c:pt>
              </c:numCache>
            </c:numRef>
          </c:val>
        </c:ser>
        <c:ser>
          <c:idx val="1"/>
          <c:order val="1"/>
          <c:tx>
            <c:strRef>
              <c:f>Graphs!$G$7</c:f>
              <c:strCache>
                <c:ptCount val="1"/>
                <c:pt idx="0">
                  <c:v>PepsoCo.</c:v>
                </c:pt>
              </c:strCache>
            </c:strRef>
          </c:tx>
          <c:spPr>
            <a:solidFill>
              <a:schemeClr val="accent1">
                <a:lumMod val="75000"/>
              </a:schemeClr>
            </a:solidFill>
          </c:spPr>
          <c:cat>
            <c:strRef>
              <c:f>Graphs!$H$5:$J$5</c:f>
              <c:strCache>
                <c:ptCount val="3"/>
                <c:pt idx="0">
                  <c:v>FY2024</c:v>
                </c:pt>
                <c:pt idx="1">
                  <c:v>FY2023</c:v>
                </c:pt>
                <c:pt idx="2">
                  <c:v>FY2022</c:v>
                </c:pt>
              </c:strCache>
            </c:strRef>
          </c:cat>
          <c:val>
            <c:numRef>
              <c:f>Graphs!$H$7:$J$7</c:f>
              <c:numCache>
                <c:formatCode>0.00</c:formatCode>
                <c:ptCount val="3"/>
                <c:pt idx="0">
                  <c:v>52.974519839304392</c:v>
                </c:pt>
                <c:pt idx="1">
                  <c:v>49.122712882974824</c:v>
                </c:pt>
                <c:pt idx="2">
                  <c:v>51.97707404619927</c:v>
                </c:pt>
              </c:numCache>
            </c:numRef>
          </c:val>
        </c:ser>
        <c:gapWidth val="75"/>
        <c:axId val="109276160"/>
        <c:axId val="109282048"/>
      </c:barChart>
      <c:catAx>
        <c:axId val="109276160"/>
        <c:scaling>
          <c:orientation val="minMax"/>
        </c:scaling>
        <c:axPos val="b"/>
        <c:majorTickMark val="none"/>
        <c:tickLblPos val="nextTo"/>
        <c:crossAx val="109282048"/>
        <c:crosses val="autoZero"/>
        <c:auto val="1"/>
        <c:lblAlgn val="ctr"/>
        <c:lblOffset val="100"/>
      </c:catAx>
      <c:valAx>
        <c:axId val="109282048"/>
        <c:scaling>
          <c:orientation val="minMax"/>
        </c:scaling>
        <c:axPos val="l"/>
        <c:majorGridlines/>
        <c:numFmt formatCode="0.00" sourceLinked="1"/>
        <c:majorTickMark val="none"/>
        <c:tickLblPos val="nextTo"/>
        <c:spPr>
          <a:ln w="9525">
            <a:noFill/>
          </a:ln>
        </c:spPr>
        <c:crossAx val="109276160"/>
        <c:crosses val="autoZero"/>
        <c:crossBetween val="between"/>
      </c:valAx>
    </c:plotArea>
    <c:legend>
      <c:legendPos val="b"/>
      <c:layout/>
    </c:legend>
    <c:plotVisOnly val="1"/>
  </c:chart>
  <c:externalData r:id="rId1"/>
  <c:userShapes r:id="rId2"/>
</c:chartSpace>
</file>

<file path=ppt/charts/chart5.xml><?xml version="1.0" encoding="utf-8"?>
<c:chartSpace xmlns:c="http://schemas.openxmlformats.org/drawingml/2006/chart" xmlns:a="http://schemas.openxmlformats.org/drawingml/2006/main" xmlns:r="http://schemas.openxmlformats.org/officeDocument/2006/relationships">
  <c:date1904 val="1"/>
  <c:lang val="en-US"/>
  <c:chart>
    <c:title>
      <c:tx>
        <c:rich>
          <a:bodyPr/>
          <a:lstStyle/>
          <a:p>
            <a:pPr>
              <a:defRPr/>
            </a:pPr>
            <a:r>
              <a:rPr lang="en-US" sz="1800" b="1" i="0" u="none" strike="noStrike" baseline="0"/>
              <a:t>EPS</a:t>
            </a:r>
            <a:endParaRPr lang="en-US"/>
          </a:p>
        </c:rich>
      </c:tx>
      <c:layout/>
    </c:title>
    <c:plotArea>
      <c:layout>
        <c:manualLayout>
          <c:layoutTarget val="inner"/>
          <c:xMode val="edge"/>
          <c:yMode val="edge"/>
          <c:x val="3.1884057971014547E-2"/>
          <c:y val="0.30582385535141515"/>
          <c:w val="0.93623188405797098"/>
          <c:h val="0.43269065325167688"/>
        </c:manualLayout>
      </c:layout>
      <c:barChart>
        <c:barDir val="col"/>
        <c:grouping val="clustered"/>
        <c:ser>
          <c:idx val="0"/>
          <c:order val="0"/>
          <c:tx>
            <c:strRef>
              <c:f>Graphs!$B$98</c:f>
              <c:strCache>
                <c:ptCount val="1"/>
                <c:pt idx="0">
                  <c:v>The Coca-Cola Company</c:v>
                </c:pt>
              </c:strCache>
            </c:strRef>
          </c:tx>
          <c:spPr>
            <a:solidFill>
              <a:srgbClr val="C00000"/>
            </a:solidFill>
          </c:spPr>
          <c:dLbls>
            <c:showVal val="1"/>
          </c:dLbls>
          <c:cat>
            <c:strRef>
              <c:f>Graphs!$C$97:$E$97</c:f>
              <c:strCache>
                <c:ptCount val="3"/>
                <c:pt idx="0">
                  <c:v>FY2024</c:v>
                </c:pt>
                <c:pt idx="1">
                  <c:v>FY2023</c:v>
                </c:pt>
                <c:pt idx="2">
                  <c:v>FY2022</c:v>
                </c:pt>
              </c:strCache>
            </c:strRef>
          </c:cat>
          <c:val>
            <c:numRef>
              <c:f>Graphs!$C$98:$E$98</c:f>
              <c:numCache>
                <c:formatCode>0.00</c:formatCode>
                <c:ptCount val="3"/>
                <c:pt idx="0">
                  <c:v>2.4650462962962965</c:v>
                </c:pt>
                <c:pt idx="1">
                  <c:v>2.4666973957132967</c:v>
                </c:pt>
                <c:pt idx="2">
                  <c:v>2.2002298850574737</c:v>
                </c:pt>
              </c:numCache>
            </c:numRef>
          </c:val>
        </c:ser>
        <c:ser>
          <c:idx val="1"/>
          <c:order val="1"/>
          <c:tx>
            <c:strRef>
              <c:f>Graphs!$B$99</c:f>
              <c:strCache>
                <c:ptCount val="1"/>
                <c:pt idx="0">
                  <c:v>PepsoCo.</c:v>
                </c:pt>
              </c:strCache>
            </c:strRef>
          </c:tx>
          <c:spPr>
            <a:solidFill>
              <a:schemeClr val="accent1">
                <a:lumMod val="75000"/>
              </a:schemeClr>
            </a:solidFill>
          </c:spPr>
          <c:dLbls>
            <c:showVal val="1"/>
          </c:dLbls>
          <c:cat>
            <c:strRef>
              <c:f>Graphs!$C$97:$E$97</c:f>
              <c:strCache>
                <c:ptCount val="3"/>
                <c:pt idx="0">
                  <c:v>FY2024</c:v>
                </c:pt>
                <c:pt idx="1">
                  <c:v>FY2023</c:v>
                </c:pt>
                <c:pt idx="2">
                  <c:v>FY2022</c:v>
                </c:pt>
              </c:strCache>
            </c:strRef>
          </c:cat>
          <c:val>
            <c:numRef>
              <c:f>Graphs!$C$99:$E$99</c:f>
              <c:numCache>
                <c:formatCode>0.00</c:formatCode>
                <c:ptCount val="3"/>
                <c:pt idx="0">
                  <c:v>6.9854862119013061</c:v>
                </c:pt>
                <c:pt idx="1">
                  <c:v>6.61966738973247</c:v>
                </c:pt>
                <c:pt idx="2">
                  <c:v>6.4729632299927902</c:v>
                </c:pt>
              </c:numCache>
            </c:numRef>
          </c:val>
        </c:ser>
        <c:dLbls>
          <c:showVal val="1"/>
        </c:dLbls>
        <c:gapWidth val="95"/>
        <c:axId val="109342720"/>
        <c:axId val="109344256"/>
      </c:barChart>
      <c:catAx>
        <c:axId val="109342720"/>
        <c:scaling>
          <c:orientation val="minMax"/>
        </c:scaling>
        <c:axPos val="b"/>
        <c:majorTickMark val="none"/>
        <c:tickLblPos val="nextTo"/>
        <c:crossAx val="109344256"/>
        <c:crosses val="autoZero"/>
        <c:auto val="1"/>
        <c:lblAlgn val="ctr"/>
        <c:lblOffset val="100"/>
      </c:catAx>
      <c:valAx>
        <c:axId val="109344256"/>
        <c:scaling>
          <c:orientation val="minMax"/>
        </c:scaling>
        <c:delete val="1"/>
        <c:axPos val="l"/>
        <c:numFmt formatCode="0.00" sourceLinked="1"/>
        <c:tickLblPos val="nextTo"/>
        <c:crossAx val="109342720"/>
        <c:crosses val="autoZero"/>
        <c:crossBetween val="between"/>
      </c:valAx>
    </c:plotArea>
    <c:legend>
      <c:legendPos val="t"/>
      <c:layout/>
    </c:legend>
    <c:plotVisOnly val="1"/>
  </c:chart>
  <c:externalData r:id="rId1"/>
  <c:userShapes r:id="rId2"/>
</c:chartSpace>
</file>

<file path=ppt/charts/chart6.xml><?xml version="1.0" encoding="utf-8"?>
<c:chartSpace xmlns:c="http://schemas.openxmlformats.org/drawingml/2006/chart" xmlns:a="http://schemas.openxmlformats.org/drawingml/2006/main" xmlns:r="http://schemas.openxmlformats.org/officeDocument/2006/relationships">
  <c:date1904 val="1"/>
  <c:lang val="en-US"/>
  <c:style val="18"/>
  <c:chart>
    <c:autoTitleDeleted val="1"/>
    <c:plotArea>
      <c:layout>
        <c:manualLayout>
          <c:layoutTarget val="inner"/>
          <c:xMode val="edge"/>
          <c:yMode val="edge"/>
          <c:x val="0.12804899387576593"/>
          <c:y val="0.16330225388493128"/>
          <c:w val="0.8487120809245251"/>
          <c:h val="0.5572473440819895"/>
        </c:manualLayout>
      </c:layout>
      <c:barChart>
        <c:barDir val="col"/>
        <c:grouping val="clustered"/>
        <c:ser>
          <c:idx val="2"/>
          <c:order val="0"/>
          <c:tx>
            <c:strRef>
              <c:f>Graphs!$G$28</c:f>
              <c:strCache>
                <c:ptCount val="1"/>
                <c:pt idx="0">
                  <c:v>The Coca-Cola Company</c:v>
                </c:pt>
              </c:strCache>
            </c:strRef>
          </c:tx>
          <c:spPr>
            <a:solidFill>
              <a:srgbClr val="C00000"/>
            </a:solidFill>
          </c:spPr>
          <c:dLbls>
            <c:showVal val="1"/>
          </c:dLbls>
          <c:cat>
            <c:strRef>
              <c:f>Graphs!$H$27:$J$27</c:f>
              <c:strCache>
                <c:ptCount val="3"/>
                <c:pt idx="0">
                  <c:v>FY2024</c:v>
                </c:pt>
                <c:pt idx="1">
                  <c:v>FY2023</c:v>
                </c:pt>
                <c:pt idx="2">
                  <c:v>FY2022</c:v>
                </c:pt>
              </c:strCache>
            </c:strRef>
          </c:cat>
          <c:val>
            <c:numRef>
              <c:f>Graphs!$H$28:$J$28</c:f>
              <c:numCache>
                <c:formatCode>0.00</c:formatCode>
                <c:ptCount val="3"/>
                <c:pt idx="0">
                  <c:v>0.62498007968127534</c:v>
                </c:pt>
                <c:pt idx="1">
                  <c:v>0.61719635245238291</c:v>
                </c:pt>
                <c:pt idx="2">
                  <c:v>0.58878133599857652</c:v>
                </c:pt>
              </c:numCache>
            </c:numRef>
          </c:val>
        </c:ser>
        <c:ser>
          <c:idx val="3"/>
          <c:order val="1"/>
          <c:tx>
            <c:strRef>
              <c:f>Graphs!$G$29</c:f>
              <c:strCache>
                <c:ptCount val="1"/>
                <c:pt idx="0">
                  <c:v>PepsoCo.</c:v>
                </c:pt>
              </c:strCache>
            </c:strRef>
          </c:tx>
          <c:spPr>
            <a:solidFill>
              <a:schemeClr val="accent1">
                <a:lumMod val="75000"/>
              </a:schemeClr>
            </a:solidFill>
          </c:spPr>
          <c:dLbls>
            <c:showVal val="1"/>
          </c:dLbls>
          <c:cat>
            <c:strRef>
              <c:f>Graphs!$H$27:$J$27</c:f>
              <c:strCache>
                <c:ptCount val="3"/>
                <c:pt idx="0">
                  <c:v>FY2024</c:v>
                </c:pt>
                <c:pt idx="1">
                  <c:v>FY2023</c:v>
                </c:pt>
                <c:pt idx="2">
                  <c:v>FY2022</c:v>
                </c:pt>
              </c:strCache>
            </c:strRef>
          </c:cat>
          <c:val>
            <c:numRef>
              <c:f>Graphs!$H$29:$J$29</c:f>
              <c:numCache>
                <c:formatCode>0.00</c:formatCode>
                <c:ptCount val="3"/>
                <c:pt idx="0">
                  <c:v>1.3521661686122683</c:v>
                </c:pt>
                <c:pt idx="1">
                  <c:v>1.3285934231931211</c:v>
                </c:pt>
                <c:pt idx="2">
                  <c:v>1.3209381976086358</c:v>
                </c:pt>
              </c:numCache>
            </c:numRef>
          </c:val>
        </c:ser>
        <c:dLbls>
          <c:showVal val="1"/>
        </c:dLbls>
        <c:gapWidth val="75"/>
        <c:axId val="109378944"/>
        <c:axId val="91051136"/>
      </c:barChart>
      <c:catAx>
        <c:axId val="109378944"/>
        <c:scaling>
          <c:orientation val="minMax"/>
        </c:scaling>
        <c:axPos val="b"/>
        <c:majorTickMark val="none"/>
        <c:tickLblPos val="nextTo"/>
        <c:crossAx val="91051136"/>
        <c:crosses val="autoZero"/>
        <c:auto val="1"/>
        <c:lblAlgn val="ctr"/>
        <c:lblOffset val="100"/>
      </c:catAx>
      <c:valAx>
        <c:axId val="91051136"/>
        <c:scaling>
          <c:orientation val="minMax"/>
        </c:scaling>
        <c:axPos val="l"/>
        <c:numFmt formatCode="0.00" sourceLinked="1"/>
        <c:majorTickMark val="none"/>
        <c:tickLblPos val="nextTo"/>
        <c:crossAx val="109378944"/>
        <c:crosses val="autoZero"/>
        <c:crossBetween val="between"/>
      </c:valAx>
    </c:plotArea>
    <c:legend>
      <c:legendPos val="b"/>
      <c:layout/>
    </c:legend>
    <c:plotVisOnly val="1"/>
  </c:chart>
  <c:externalData r:id="rId1"/>
  <c:userShapes r:id="rId2"/>
</c:chartSpace>
</file>

<file path=ppt/charts/chart7.xml><?xml version="1.0" encoding="utf-8"?>
<c:chartSpace xmlns:c="http://schemas.openxmlformats.org/drawingml/2006/chart" xmlns:a="http://schemas.openxmlformats.org/drawingml/2006/main" xmlns:r="http://schemas.openxmlformats.org/officeDocument/2006/relationships">
  <c:date1904 val="1"/>
  <c:lang val="en-US"/>
  <c:chart>
    <c:title>
      <c:tx>
        <c:rich>
          <a:bodyPr/>
          <a:lstStyle/>
          <a:p>
            <a:pPr>
              <a:defRPr/>
            </a:pPr>
            <a:r>
              <a:rPr lang="en-US"/>
              <a:t>Current ratio</a:t>
            </a:r>
          </a:p>
        </c:rich>
      </c:tx>
      <c:layout/>
    </c:title>
    <c:plotArea>
      <c:layout>
        <c:manualLayout>
          <c:layoutTarget val="inner"/>
          <c:xMode val="edge"/>
          <c:yMode val="edge"/>
          <c:x val="0.11138692278849759"/>
          <c:y val="0.19480351414406533"/>
          <c:w val="0.85637864497707061"/>
          <c:h val="0.46925306211723533"/>
        </c:manualLayout>
      </c:layout>
      <c:barChart>
        <c:barDir val="col"/>
        <c:grouping val="clustered"/>
        <c:ser>
          <c:idx val="0"/>
          <c:order val="0"/>
          <c:tx>
            <c:strRef>
              <c:f>Graphs!$B$74</c:f>
              <c:strCache>
                <c:ptCount val="1"/>
                <c:pt idx="0">
                  <c:v>The Coca-Cola Company</c:v>
                </c:pt>
              </c:strCache>
            </c:strRef>
          </c:tx>
          <c:spPr>
            <a:solidFill>
              <a:srgbClr val="C00000"/>
            </a:solidFill>
          </c:spPr>
          <c:cat>
            <c:strRef>
              <c:f>Graphs!$C$73:$E$73</c:f>
              <c:strCache>
                <c:ptCount val="3"/>
                <c:pt idx="0">
                  <c:v>FY2024</c:v>
                </c:pt>
                <c:pt idx="1">
                  <c:v>FY2023</c:v>
                </c:pt>
                <c:pt idx="2">
                  <c:v>FY2022</c:v>
                </c:pt>
              </c:strCache>
            </c:strRef>
          </c:cat>
          <c:val>
            <c:numRef>
              <c:f>Graphs!$C$74:$E$74</c:f>
              <c:numCache>
                <c:formatCode>0.00</c:formatCode>
                <c:ptCount val="3"/>
                <c:pt idx="0">
                  <c:v>1.0296249356410154</c:v>
                </c:pt>
                <c:pt idx="1">
                  <c:v>1.1341054685842782</c:v>
                </c:pt>
                <c:pt idx="2">
                  <c:v>1.1453559115798024</c:v>
                </c:pt>
              </c:numCache>
            </c:numRef>
          </c:val>
        </c:ser>
        <c:ser>
          <c:idx val="1"/>
          <c:order val="1"/>
          <c:tx>
            <c:strRef>
              <c:f>Graphs!$B$75</c:f>
              <c:strCache>
                <c:ptCount val="1"/>
                <c:pt idx="0">
                  <c:v>PepsoCo.</c:v>
                </c:pt>
              </c:strCache>
            </c:strRef>
          </c:tx>
          <c:spPr>
            <a:solidFill>
              <a:schemeClr val="accent1">
                <a:lumMod val="75000"/>
              </a:schemeClr>
            </a:solidFill>
          </c:spPr>
          <c:cat>
            <c:strRef>
              <c:f>Graphs!$C$73:$E$73</c:f>
              <c:strCache>
                <c:ptCount val="3"/>
                <c:pt idx="0">
                  <c:v>FY2024</c:v>
                </c:pt>
                <c:pt idx="1">
                  <c:v>FY2023</c:v>
                </c:pt>
                <c:pt idx="2">
                  <c:v>FY2022</c:v>
                </c:pt>
              </c:strCache>
            </c:strRef>
          </c:cat>
          <c:val>
            <c:numRef>
              <c:f>Graphs!$C$75:$E$75</c:f>
              <c:numCache>
                <c:formatCode>0.00</c:formatCode>
                <c:ptCount val="3"/>
                <c:pt idx="0">
                  <c:v>0.8189370877727038</c:v>
                </c:pt>
                <c:pt idx="1">
                  <c:v>0.85158150851581504</c:v>
                </c:pt>
                <c:pt idx="2">
                  <c:v>0.80414411050961365</c:v>
                </c:pt>
              </c:numCache>
            </c:numRef>
          </c:val>
        </c:ser>
        <c:gapWidth val="75"/>
        <c:overlap val="-25"/>
        <c:axId val="109450368"/>
        <c:axId val="109451904"/>
      </c:barChart>
      <c:catAx>
        <c:axId val="109450368"/>
        <c:scaling>
          <c:orientation val="minMax"/>
        </c:scaling>
        <c:axPos val="b"/>
        <c:majorTickMark val="none"/>
        <c:tickLblPos val="nextTo"/>
        <c:crossAx val="109451904"/>
        <c:crosses val="autoZero"/>
        <c:auto val="1"/>
        <c:lblAlgn val="ctr"/>
        <c:lblOffset val="100"/>
      </c:catAx>
      <c:valAx>
        <c:axId val="109451904"/>
        <c:scaling>
          <c:orientation val="minMax"/>
        </c:scaling>
        <c:axPos val="l"/>
        <c:majorGridlines/>
        <c:numFmt formatCode="0.00" sourceLinked="1"/>
        <c:majorTickMark val="none"/>
        <c:tickLblPos val="nextTo"/>
        <c:spPr>
          <a:ln w="9525">
            <a:noFill/>
          </a:ln>
        </c:spPr>
        <c:crossAx val="109450368"/>
        <c:crosses val="autoZero"/>
        <c:crossBetween val="between"/>
      </c:valAx>
    </c:plotArea>
    <c:legend>
      <c:legendPos val="b"/>
      <c:layout/>
    </c:legend>
    <c:plotVisOnly val="1"/>
  </c:chart>
  <c:externalData r:id="rId1"/>
  <c:userShapes r:id="rId2"/>
</c:chartSpace>
</file>

<file path=ppt/charts/chart8.xml><?xml version="1.0" encoding="utf-8"?>
<c:chartSpace xmlns:c="http://schemas.openxmlformats.org/drawingml/2006/chart" xmlns:a="http://schemas.openxmlformats.org/drawingml/2006/main" xmlns:r="http://schemas.openxmlformats.org/officeDocument/2006/relationships">
  <c:date1904 val="1"/>
  <c:lang val="en-US"/>
  <c:chart>
    <c:title>
      <c:tx>
        <c:rich>
          <a:bodyPr/>
          <a:lstStyle/>
          <a:p>
            <a:pPr>
              <a:defRPr/>
            </a:pPr>
            <a:r>
              <a:rPr lang="en-US"/>
              <a:t>Quick ratio</a:t>
            </a:r>
          </a:p>
        </c:rich>
      </c:tx>
      <c:layout/>
    </c:title>
    <c:plotArea>
      <c:layout>
        <c:manualLayout>
          <c:layoutTarget val="inner"/>
          <c:xMode val="edge"/>
          <c:yMode val="edge"/>
          <c:x val="0.12391454735639709"/>
          <c:y val="0.19480351414406533"/>
          <c:w val="0.57706511624922185"/>
          <c:h val="0.55297025371828601"/>
        </c:manualLayout>
      </c:layout>
      <c:barChart>
        <c:barDir val="col"/>
        <c:grouping val="clustered"/>
        <c:ser>
          <c:idx val="0"/>
          <c:order val="0"/>
          <c:tx>
            <c:strRef>
              <c:f>Graphs!$G$74</c:f>
              <c:strCache>
                <c:ptCount val="1"/>
                <c:pt idx="0">
                  <c:v>The Coca-Cola Company</c:v>
                </c:pt>
              </c:strCache>
            </c:strRef>
          </c:tx>
          <c:spPr>
            <a:solidFill>
              <a:srgbClr val="C00000"/>
            </a:solidFill>
          </c:spPr>
          <c:cat>
            <c:strRef>
              <c:f>Graphs!$H$73:$J$73</c:f>
              <c:strCache>
                <c:ptCount val="3"/>
                <c:pt idx="0">
                  <c:v>FY2024</c:v>
                </c:pt>
                <c:pt idx="1">
                  <c:v>FY2023</c:v>
                </c:pt>
                <c:pt idx="2">
                  <c:v>FY2022</c:v>
                </c:pt>
              </c:strCache>
            </c:strRef>
          </c:cat>
          <c:val>
            <c:numRef>
              <c:f>Graphs!$H$74:$J$74</c:f>
              <c:numCache>
                <c:formatCode>0.00</c:formatCode>
                <c:ptCount val="3"/>
                <c:pt idx="0">
                  <c:v>0.84236999485128128</c:v>
                </c:pt>
                <c:pt idx="1">
                  <c:v>0.946417207585593</c:v>
                </c:pt>
                <c:pt idx="2">
                  <c:v>0.93074427093895762</c:v>
                </c:pt>
              </c:numCache>
            </c:numRef>
          </c:val>
        </c:ser>
        <c:ser>
          <c:idx val="1"/>
          <c:order val="1"/>
          <c:tx>
            <c:strRef>
              <c:f>Graphs!$G$75</c:f>
              <c:strCache>
                <c:ptCount val="1"/>
                <c:pt idx="0">
                  <c:v>PepsoCo.</c:v>
                </c:pt>
              </c:strCache>
            </c:strRef>
          </c:tx>
          <c:spPr>
            <a:solidFill>
              <a:schemeClr val="accent1">
                <a:lumMod val="75000"/>
              </a:schemeClr>
            </a:solidFill>
          </c:spPr>
          <c:cat>
            <c:strRef>
              <c:f>Graphs!$H$73:$J$73</c:f>
              <c:strCache>
                <c:ptCount val="3"/>
                <c:pt idx="0">
                  <c:v>FY2024</c:v>
                </c:pt>
                <c:pt idx="1">
                  <c:v>FY2023</c:v>
                </c:pt>
                <c:pt idx="2">
                  <c:v>FY2022</c:v>
                </c:pt>
              </c:strCache>
            </c:strRef>
          </c:cat>
          <c:val>
            <c:numRef>
              <c:f>Graphs!$H$75:$J$75</c:f>
              <c:numCache>
                <c:formatCode>0.00</c:formatCode>
                <c:ptCount val="3"/>
                <c:pt idx="0">
                  <c:v>0.65068493150685003</c:v>
                </c:pt>
                <c:pt idx="1">
                  <c:v>0.68303472683034727</c:v>
                </c:pt>
                <c:pt idx="2">
                  <c:v>0.60918424491319811</c:v>
                </c:pt>
              </c:numCache>
            </c:numRef>
          </c:val>
        </c:ser>
        <c:axId val="109476864"/>
        <c:axId val="109478656"/>
      </c:barChart>
      <c:catAx>
        <c:axId val="109476864"/>
        <c:scaling>
          <c:orientation val="minMax"/>
        </c:scaling>
        <c:axPos val="b"/>
        <c:majorTickMark val="none"/>
        <c:tickLblPos val="nextTo"/>
        <c:crossAx val="109478656"/>
        <c:crosses val="autoZero"/>
        <c:auto val="1"/>
        <c:lblAlgn val="ctr"/>
        <c:lblOffset val="100"/>
      </c:catAx>
      <c:valAx>
        <c:axId val="109478656"/>
        <c:scaling>
          <c:orientation val="minMax"/>
        </c:scaling>
        <c:axPos val="l"/>
        <c:majorGridlines/>
        <c:numFmt formatCode="0.00" sourceLinked="1"/>
        <c:tickLblPos val="nextTo"/>
        <c:crossAx val="109476864"/>
        <c:crosses val="autoZero"/>
        <c:crossBetween val="between"/>
      </c:valAx>
    </c:plotArea>
    <c:legend>
      <c:legendPos val="r"/>
      <c:layout/>
    </c:legend>
    <c:plotVisOnly val="1"/>
  </c:chart>
  <c:externalData r:id="rId1"/>
  <c:userShapes r:id="rId2"/>
</c:chartSpace>
</file>

<file path=ppt/charts/chart9.xml><?xml version="1.0" encoding="utf-8"?>
<c:chartSpace xmlns:c="http://schemas.openxmlformats.org/drawingml/2006/chart" xmlns:a="http://schemas.openxmlformats.org/drawingml/2006/main" xmlns:r="http://schemas.openxmlformats.org/officeDocument/2006/relationships">
  <c:date1904 val="1"/>
  <c:lang val="en-US"/>
  <c:chart>
    <c:title>
      <c:tx>
        <c:rich>
          <a:bodyPr/>
          <a:lstStyle/>
          <a:p>
            <a:pPr>
              <a:defRPr/>
            </a:pPr>
            <a:r>
              <a:rPr lang="en-US"/>
              <a:t>Debt to equity ratio</a:t>
            </a:r>
          </a:p>
        </c:rich>
      </c:tx>
      <c:layout/>
    </c:title>
    <c:plotArea>
      <c:layout>
        <c:manualLayout>
          <c:layoutTarget val="inner"/>
          <c:xMode val="edge"/>
          <c:yMode val="edge"/>
          <c:x val="0.11338042476234095"/>
          <c:y val="0.19480351414406533"/>
          <c:w val="0.49362926949567615"/>
          <c:h val="0.54371099445902582"/>
        </c:manualLayout>
      </c:layout>
      <c:barChart>
        <c:barDir val="col"/>
        <c:grouping val="clustered"/>
        <c:ser>
          <c:idx val="0"/>
          <c:order val="0"/>
          <c:tx>
            <c:strRef>
              <c:f>Graphs!$B$122</c:f>
              <c:strCache>
                <c:ptCount val="1"/>
                <c:pt idx="0">
                  <c:v>The Coca-Cola Company</c:v>
                </c:pt>
              </c:strCache>
            </c:strRef>
          </c:tx>
          <c:spPr>
            <a:solidFill>
              <a:srgbClr val="C00000"/>
            </a:solidFill>
          </c:spPr>
          <c:cat>
            <c:strRef>
              <c:f>Graphs!$C$121:$E$121</c:f>
              <c:strCache>
                <c:ptCount val="3"/>
                <c:pt idx="0">
                  <c:v>FY2024</c:v>
                </c:pt>
                <c:pt idx="1">
                  <c:v>FY2023</c:v>
                </c:pt>
                <c:pt idx="2">
                  <c:v>FY2022</c:v>
                </c:pt>
              </c:strCache>
            </c:strRef>
          </c:cat>
          <c:val>
            <c:numRef>
              <c:f>Graphs!$C$122:$E$122</c:f>
              <c:numCache>
                <c:formatCode>0.00</c:formatCode>
                <c:ptCount val="3"/>
                <c:pt idx="0">
                  <c:v>1.7162520855452761</c:v>
                </c:pt>
                <c:pt idx="1">
                  <c:v>1.5164847161572053</c:v>
                </c:pt>
                <c:pt idx="2">
                  <c:v>1.5470068922790972</c:v>
                </c:pt>
              </c:numCache>
            </c:numRef>
          </c:val>
        </c:ser>
        <c:ser>
          <c:idx val="1"/>
          <c:order val="1"/>
          <c:tx>
            <c:strRef>
              <c:f>Graphs!$B$123</c:f>
              <c:strCache>
                <c:ptCount val="1"/>
                <c:pt idx="0">
                  <c:v>PepsoCo.</c:v>
                </c:pt>
              </c:strCache>
            </c:strRef>
          </c:tx>
          <c:spPr>
            <a:solidFill>
              <a:schemeClr val="accent1">
                <a:lumMod val="75000"/>
              </a:schemeClr>
            </a:solidFill>
          </c:spPr>
          <c:cat>
            <c:strRef>
              <c:f>Graphs!$C$121:$E$121</c:f>
              <c:strCache>
                <c:ptCount val="3"/>
                <c:pt idx="0">
                  <c:v>FY2024</c:v>
                </c:pt>
                <c:pt idx="1">
                  <c:v>FY2023</c:v>
                </c:pt>
                <c:pt idx="2">
                  <c:v>FY2022</c:v>
                </c:pt>
              </c:strCache>
            </c:strRef>
          </c:cat>
          <c:val>
            <c:numRef>
              <c:f>Graphs!$C$123:$E$123</c:f>
              <c:numCache>
                <c:formatCode>0.00</c:formatCode>
                <c:ptCount val="3"/>
                <c:pt idx="0">
                  <c:v>2.4382807770623556</c:v>
                </c:pt>
                <c:pt idx="1">
                  <c:v>2.3665289477920282</c:v>
                </c:pt>
                <c:pt idx="2">
                  <c:v>2.2619695478492452</c:v>
                </c:pt>
              </c:numCache>
            </c:numRef>
          </c:val>
        </c:ser>
        <c:axId val="109508864"/>
        <c:axId val="109727744"/>
      </c:barChart>
      <c:catAx>
        <c:axId val="109508864"/>
        <c:scaling>
          <c:orientation val="minMax"/>
        </c:scaling>
        <c:axPos val="b"/>
        <c:majorTickMark val="none"/>
        <c:tickLblPos val="nextTo"/>
        <c:crossAx val="109727744"/>
        <c:crosses val="autoZero"/>
        <c:auto val="1"/>
        <c:lblAlgn val="ctr"/>
        <c:lblOffset val="100"/>
      </c:catAx>
      <c:valAx>
        <c:axId val="109727744"/>
        <c:scaling>
          <c:orientation val="minMax"/>
        </c:scaling>
        <c:axPos val="l"/>
        <c:majorGridlines/>
        <c:numFmt formatCode="0.00" sourceLinked="1"/>
        <c:tickLblPos val="nextTo"/>
        <c:crossAx val="109508864"/>
        <c:crosses val="autoZero"/>
        <c:crossBetween val="between"/>
      </c:valAx>
    </c:plotArea>
    <c:legend>
      <c:legendPos val="r"/>
      <c:layout/>
    </c:legend>
    <c:plotVisOnly val="1"/>
  </c:chart>
  <c:externalData r:id="rId1"/>
  <c:userShapes r:id="rId2"/>
</c:chartSpace>
</file>

<file path=ppt/charts/chart10.xml><?xml version="1.0" encoding="utf-8"?>
<c:chartSpace xmlns:c="http://schemas.openxmlformats.org/drawingml/2006/chart" xmlns:a="http://schemas.openxmlformats.org/drawingml/2006/main" xmlns:r="http://schemas.openxmlformats.org/officeDocument/2006/relationships">
  <c:date1904 val="1"/>
  <c:lang val="en-US"/>
  <c:chart>
    <c:title>
      <c:tx>
        <c:rich>
          <a:bodyPr/>
          <a:lstStyle/>
          <a:p>
            <a:pPr>
              <a:defRPr/>
            </a:pPr>
            <a:r>
              <a:rPr lang="en-US"/>
              <a:t>Interest coverage ratio</a:t>
            </a:r>
          </a:p>
        </c:rich>
      </c:tx>
      <c:layout/>
    </c:title>
    <c:plotArea>
      <c:layout>
        <c:manualLayout>
          <c:layoutTarget val="inner"/>
          <c:xMode val="edge"/>
          <c:yMode val="edge"/>
          <c:x val="0.27132871005803211"/>
          <c:y val="0.18097874862416391"/>
          <c:w val="0.69503214621108145"/>
          <c:h val="0.42795698924731268"/>
        </c:manualLayout>
      </c:layout>
      <c:barChart>
        <c:barDir val="col"/>
        <c:grouping val="clustered"/>
        <c:ser>
          <c:idx val="0"/>
          <c:order val="0"/>
          <c:tx>
            <c:strRef>
              <c:f>Graphs!$G$122</c:f>
              <c:strCache>
                <c:ptCount val="1"/>
                <c:pt idx="0">
                  <c:v>The Coca-Cola Company</c:v>
                </c:pt>
              </c:strCache>
            </c:strRef>
          </c:tx>
          <c:spPr>
            <a:solidFill>
              <a:srgbClr val="C00000"/>
            </a:solidFill>
          </c:spPr>
          <c:cat>
            <c:strRef>
              <c:f>Graphs!$H$121:$J$121</c:f>
              <c:strCache>
                <c:ptCount val="3"/>
                <c:pt idx="0">
                  <c:v>FY2024</c:v>
                </c:pt>
                <c:pt idx="1">
                  <c:v>FY2023</c:v>
                </c:pt>
                <c:pt idx="2">
                  <c:v>FY2022</c:v>
                </c:pt>
              </c:strCache>
            </c:strRef>
          </c:cat>
          <c:val>
            <c:numRef>
              <c:f>Graphs!$H$122:$J$122</c:f>
              <c:numCache>
                <c:formatCode>0.00</c:formatCode>
                <c:ptCount val="3"/>
                <c:pt idx="0">
                  <c:v>6.0338164251207731</c:v>
                </c:pt>
                <c:pt idx="1">
                  <c:v>7.4073346430910281</c:v>
                </c:pt>
                <c:pt idx="2">
                  <c:v>12.368480725623582</c:v>
                </c:pt>
              </c:numCache>
            </c:numRef>
          </c:val>
        </c:ser>
        <c:ser>
          <c:idx val="1"/>
          <c:order val="1"/>
          <c:tx>
            <c:strRef>
              <c:f>Graphs!$G$123</c:f>
              <c:strCache>
                <c:ptCount val="1"/>
                <c:pt idx="0">
                  <c:v>PepsoCo.</c:v>
                </c:pt>
              </c:strCache>
            </c:strRef>
          </c:tx>
          <c:spPr>
            <a:solidFill>
              <a:schemeClr val="accent1">
                <a:lumMod val="75000"/>
              </a:schemeClr>
            </a:solidFill>
          </c:spPr>
          <c:cat>
            <c:strRef>
              <c:f>Graphs!$H$121:$J$121</c:f>
              <c:strCache>
                <c:ptCount val="3"/>
                <c:pt idx="0">
                  <c:v>FY2024</c:v>
                </c:pt>
                <c:pt idx="1">
                  <c:v>FY2023</c:v>
                </c:pt>
                <c:pt idx="2">
                  <c:v>FY2022</c:v>
                </c:pt>
              </c:strCache>
            </c:strRef>
          </c:cat>
          <c:val>
            <c:numRef>
              <c:f>Graphs!$H$123:$J$123</c:f>
              <c:numCache>
                <c:formatCode>0.00</c:formatCode>
                <c:ptCount val="3"/>
                <c:pt idx="0">
                  <c:v>14.022850924918389</c:v>
                </c:pt>
                <c:pt idx="1">
                  <c:v>14.634920634920633</c:v>
                </c:pt>
                <c:pt idx="2">
                  <c:v>12.25985090521832</c:v>
                </c:pt>
              </c:numCache>
            </c:numRef>
          </c:val>
        </c:ser>
        <c:axId val="109756800"/>
        <c:axId val="109758336"/>
      </c:barChart>
      <c:catAx>
        <c:axId val="109756800"/>
        <c:scaling>
          <c:orientation val="minMax"/>
        </c:scaling>
        <c:axPos val="b"/>
        <c:majorTickMark val="none"/>
        <c:tickLblPos val="nextTo"/>
        <c:crossAx val="109758336"/>
        <c:crosses val="autoZero"/>
        <c:auto val="1"/>
        <c:lblAlgn val="ctr"/>
        <c:lblOffset val="100"/>
      </c:catAx>
      <c:valAx>
        <c:axId val="109758336"/>
        <c:scaling>
          <c:orientation val="minMax"/>
        </c:scaling>
        <c:axPos val="l"/>
        <c:majorGridlines/>
        <c:numFmt formatCode="0.00" sourceLinked="1"/>
        <c:majorTickMark val="none"/>
        <c:tickLblPos val="nextTo"/>
        <c:crossAx val="109756800"/>
        <c:crosses val="autoZero"/>
        <c:crossBetween val="between"/>
      </c:valAx>
      <c:dTable>
        <c:showHorzBorder val="1"/>
        <c:showVertBorder val="1"/>
        <c:showOutline val="1"/>
        <c:showKeys val="1"/>
      </c:dTable>
    </c:plotArea>
    <c:plotVisOnly val="1"/>
  </c:chart>
  <c:externalData r:id="rId1"/>
  <c:userShapes r:id="rId2"/>
</c:chartSpace>
</file>

<file path=ppt/drawings/drawing1.xml><?xml version="1.0" encoding="utf-8"?>
<c:userShapes xmlns:c="http://schemas.openxmlformats.org/drawingml/2006/chart">
  <cdr:relSizeAnchor xmlns:cdr="http://schemas.openxmlformats.org/drawingml/2006/chartDrawing">
    <cdr:from>
      <cdr:x>0.10503</cdr:x>
      <cdr:y>0.75</cdr:y>
    </cdr:from>
    <cdr:to>
      <cdr:x>0.93217</cdr:x>
      <cdr:y>0.86806</cdr:y>
    </cdr:to>
    <cdr:sp macro="" textlink="">
      <cdr:nvSpPr>
        <cdr:cNvPr id="2" name="TextBox 1"/>
        <cdr:cNvSpPr txBox="1"/>
      </cdr:nvSpPr>
      <cdr:spPr>
        <a:xfrm xmlns:a="http://schemas.openxmlformats.org/drawingml/2006/main">
          <a:off x="457200" y="2057400"/>
          <a:ext cx="3600450" cy="323850"/>
        </a:xfrm>
        <a:prstGeom xmlns:a="http://schemas.openxmlformats.org/drawingml/2006/main" prst="rect">
          <a:avLst/>
        </a:prstGeom>
      </cdr:spPr>
      <cdr:txBody>
        <a:bodyPr xmlns:a="http://schemas.openxmlformats.org/drawingml/2006/main" wrap="none" rtlCol="0"/>
        <a:lstStyle xmlns:a="http://schemas.openxmlformats.org/drawingml/2006/main"/>
        <a:p xmlns:a="http://schemas.openxmlformats.org/drawingml/2006/main">
          <a:pPr marL="0" marR="0" indent="0" defTabSz="914400" eaLnBrk="1" fontAlgn="auto" latinLnBrk="0" hangingPunct="1">
            <a:lnSpc>
              <a:spcPct val="100000"/>
            </a:lnSpc>
            <a:spcBef>
              <a:spcPts val="0"/>
            </a:spcBef>
            <a:spcAft>
              <a:spcPts val="0"/>
            </a:spcAft>
            <a:buClrTx/>
            <a:buSzTx/>
            <a:buFontTx/>
            <a:buNone/>
            <a:tabLst/>
            <a:defRPr/>
          </a:pPr>
          <a:r>
            <a:rPr lang="en-US" sz="1100">
              <a:latin typeface="+mn-lt"/>
              <a:ea typeface="+mn-ea"/>
              <a:cs typeface="+mn-cs"/>
            </a:rPr>
            <a:t>Source:</a:t>
          </a:r>
          <a:r>
            <a:rPr lang="en-US" sz="1100" baseline="0">
              <a:latin typeface="+mn-lt"/>
              <a:ea typeface="+mn-ea"/>
              <a:cs typeface="+mn-cs"/>
            </a:rPr>
            <a:t> (The Coca Cola Company,2022-24),(PepsiCo, 2022-24)</a:t>
          </a:r>
          <a:endParaRPr lang="en-US" sz="1100">
            <a:latin typeface="+mn-lt"/>
            <a:ea typeface="+mn-ea"/>
            <a:cs typeface="+mn-cs"/>
          </a:endParaRPr>
        </a:p>
        <a:p xmlns:a="http://schemas.openxmlformats.org/drawingml/2006/main">
          <a:endParaRPr lang="en-US" sz="1100"/>
        </a:p>
      </cdr:txBody>
    </cdr:sp>
  </cdr:relSizeAnchor>
</c:userShapes>
</file>

<file path=ppt/drawings/drawing2.xml><?xml version="1.0" encoding="utf-8"?>
<c:userShapes xmlns:c="http://schemas.openxmlformats.org/drawingml/2006/chart">
  <cdr:relSizeAnchor xmlns:cdr="http://schemas.openxmlformats.org/drawingml/2006/chartDrawing">
    <cdr:from>
      <cdr:x>0.08478</cdr:x>
      <cdr:y>0.76871</cdr:y>
    </cdr:from>
    <cdr:to>
      <cdr:x>0.96087</cdr:x>
      <cdr:y>0.91156</cdr:y>
    </cdr:to>
    <cdr:sp macro="" textlink="">
      <cdr:nvSpPr>
        <cdr:cNvPr id="2" name="TextBox 1"/>
        <cdr:cNvSpPr txBox="1"/>
      </cdr:nvSpPr>
      <cdr:spPr>
        <a:xfrm xmlns:a="http://schemas.openxmlformats.org/drawingml/2006/main">
          <a:off x="371464" y="2152658"/>
          <a:ext cx="3838588" cy="400030"/>
        </a:xfrm>
        <a:prstGeom xmlns:a="http://schemas.openxmlformats.org/drawingml/2006/main" prst="rect">
          <a:avLst/>
        </a:prstGeom>
      </cdr:spPr>
      <cdr:txBody>
        <a:bodyPr xmlns:a="http://schemas.openxmlformats.org/drawingml/2006/main" wrap="none" rtlCol="0"/>
        <a:lstStyle xmlns:a="http://schemas.openxmlformats.org/drawingml/2006/main"/>
        <a:p xmlns:a="http://schemas.openxmlformats.org/drawingml/2006/main">
          <a:pPr marL="0" marR="0" indent="0" defTabSz="914400" eaLnBrk="1" fontAlgn="auto" latinLnBrk="0" hangingPunct="1">
            <a:lnSpc>
              <a:spcPct val="100000"/>
            </a:lnSpc>
            <a:spcBef>
              <a:spcPts val="0"/>
            </a:spcBef>
            <a:spcAft>
              <a:spcPts val="0"/>
            </a:spcAft>
            <a:buClrTx/>
            <a:buSzTx/>
            <a:buFontTx/>
            <a:buNone/>
            <a:tabLst/>
            <a:defRPr/>
          </a:pPr>
          <a:r>
            <a:rPr lang="en-US" sz="1100">
              <a:latin typeface="+mn-lt"/>
              <a:ea typeface="+mn-ea"/>
              <a:cs typeface="+mn-cs"/>
            </a:rPr>
            <a:t>Source:</a:t>
          </a:r>
          <a:r>
            <a:rPr lang="en-US" sz="1100" baseline="0">
              <a:latin typeface="+mn-lt"/>
              <a:ea typeface="+mn-ea"/>
              <a:cs typeface="+mn-cs"/>
            </a:rPr>
            <a:t> (The Coca Cola Company,2022-24),(PepsiCo, 2022-24)</a:t>
          </a:r>
          <a:endParaRPr lang="en-US" sz="1100">
            <a:latin typeface="+mn-lt"/>
            <a:ea typeface="+mn-ea"/>
            <a:cs typeface="+mn-cs"/>
          </a:endParaRPr>
        </a:p>
        <a:p xmlns:a="http://schemas.openxmlformats.org/drawingml/2006/main">
          <a:endParaRPr lang="en-US" sz="1100"/>
        </a:p>
      </cdr:txBody>
    </cdr:sp>
  </cdr:relSizeAnchor>
</c:userShapes>
</file>

<file path=ppt/drawings/drawing3.xml><?xml version="1.0" encoding="utf-8"?>
<c:userShapes xmlns:c="http://schemas.openxmlformats.org/drawingml/2006/chart">
  <cdr:relSizeAnchor xmlns:cdr="http://schemas.openxmlformats.org/drawingml/2006/chartDrawing">
    <cdr:from>
      <cdr:x>0.76638</cdr:x>
      <cdr:y>0.66667</cdr:y>
    </cdr:from>
    <cdr:to>
      <cdr:x>0.97598</cdr:x>
      <cdr:y>1</cdr:y>
    </cdr:to>
    <cdr:sp macro="" textlink="">
      <cdr:nvSpPr>
        <cdr:cNvPr id="2" name="TextBox 1"/>
        <cdr:cNvSpPr txBox="1"/>
      </cdr:nvSpPr>
      <cdr:spPr>
        <a:xfrm xmlns:a="http://schemas.openxmlformats.org/drawingml/2006/main">
          <a:off x="3343274" y="2514600"/>
          <a:ext cx="914400" cy="914400"/>
        </a:xfrm>
        <a:prstGeom xmlns:a="http://schemas.openxmlformats.org/drawingml/2006/main" prst="rect">
          <a:avLst/>
        </a:prstGeom>
      </cdr:spPr>
      <cdr:txBody>
        <a:bodyPr xmlns:a="http://schemas.openxmlformats.org/drawingml/2006/main" wrap="none" rtlCol="0"/>
        <a:lstStyle xmlns:a="http://schemas.openxmlformats.org/drawingml/2006/main"/>
        <a:p xmlns:a="http://schemas.openxmlformats.org/drawingml/2006/main">
          <a:endParaRPr lang="en-US" sz="1100"/>
        </a:p>
      </cdr:txBody>
    </cdr:sp>
  </cdr:relSizeAnchor>
  <cdr:relSizeAnchor xmlns:cdr="http://schemas.openxmlformats.org/drawingml/2006/chartDrawing">
    <cdr:from>
      <cdr:x>0.10675</cdr:x>
      <cdr:y>0.66667</cdr:y>
    </cdr:from>
    <cdr:to>
      <cdr:x>0.86057</cdr:x>
      <cdr:y>1</cdr:y>
    </cdr:to>
    <cdr:sp macro="" textlink="">
      <cdr:nvSpPr>
        <cdr:cNvPr id="3" name="TextBox 2"/>
        <cdr:cNvSpPr txBox="1"/>
      </cdr:nvSpPr>
      <cdr:spPr>
        <a:xfrm xmlns:a="http://schemas.openxmlformats.org/drawingml/2006/main">
          <a:off x="466725" y="1765309"/>
          <a:ext cx="3295649" cy="882641"/>
        </a:xfrm>
        <a:prstGeom xmlns:a="http://schemas.openxmlformats.org/drawingml/2006/main" prst="rect">
          <a:avLst/>
        </a:prstGeom>
      </cdr:spPr>
      <cdr:txBody>
        <a:bodyPr xmlns:a="http://schemas.openxmlformats.org/drawingml/2006/main" wrap="none" rtlCol="0"/>
        <a:lstStyle xmlns:a="http://schemas.openxmlformats.org/drawingml/2006/main"/>
        <a:p xmlns:a="http://schemas.openxmlformats.org/drawingml/2006/main">
          <a:endParaRPr lang="en-US" sz="1100"/>
        </a:p>
      </cdr:txBody>
    </cdr:sp>
  </cdr:relSizeAnchor>
  <cdr:relSizeAnchor xmlns:cdr="http://schemas.openxmlformats.org/drawingml/2006/chartDrawing">
    <cdr:from>
      <cdr:x>0.01089</cdr:x>
      <cdr:y>0.81148</cdr:y>
    </cdr:from>
    <cdr:to>
      <cdr:x>0.97821</cdr:x>
      <cdr:y>0.89524</cdr:y>
    </cdr:to>
    <cdr:sp macro="" textlink="">
      <cdr:nvSpPr>
        <cdr:cNvPr id="4" name="TextBox 3"/>
        <cdr:cNvSpPr txBox="1"/>
      </cdr:nvSpPr>
      <cdr:spPr>
        <a:xfrm xmlns:a="http://schemas.openxmlformats.org/drawingml/2006/main">
          <a:off x="47611" y="2434730"/>
          <a:ext cx="4229099" cy="251311"/>
        </a:xfrm>
        <a:prstGeom xmlns:a="http://schemas.openxmlformats.org/drawingml/2006/main" prst="rect">
          <a:avLst/>
        </a:prstGeom>
      </cdr:spPr>
      <cdr:txBody>
        <a:bodyPr xmlns:a="http://schemas.openxmlformats.org/drawingml/2006/main" wrap="none" rtlCol="0"/>
        <a:lstStyle xmlns:a="http://schemas.openxmlformats.org/drawingml/2006/main"/>
        <a:p xmlns:a="http://schemas.openxmlformats.org/drawingml/2006/main">
          <a:pPr algn="ctr"/>
          <a:r>
            <a:rPr lang="en-US" sz="1100"/>
            <a:t>Source:</a:t>
          </a:r>
          <a:r>
            <a:rPr lang="en-US" sz="1100" baseline="0"/>
            <a:t> (The Coca Cola Company,2022-24),(PepsiCo, 2022-24)</a:t>
          </a:r>
          <a:endParaRPr lang="en-US" sz="1100"/>
        </a:p>
      </cdr:txBody>
    </cdr:sp>
  </cdr:relSizeAnchor>
  <cdr:relSizeAnchor xmlns:cdr="http://schemas.openxmlformats.org/drawingml/2006/chartDrawing">
    <cdr:from>
      <cdr:x>0.35197</cdr:x>
      <cdr:y>0.77307</cdr:y>
    </cdr:from>
    <cdr:to>
      <cdr:x>0.56067</cdr:x>
      <cdr:y>0.84103</cdr:y>
    </cdr:to>
    <cdr:sp macro="" textlink="">
      <cdr:nvSpPr>
        <cdr:cNvPr id="5" name="TextBox 4"/>
        <cdr:cNvSpPr txBox="1"/>
      </cdr:nvSpPr>
      <cdr:spPr>
        <a:xfrm xmlns:a="http://schemas.openxmlformats.org/drawingml/2006/main">
          <a:off x="1538796" y="2047052"/>
          <a:ext cx="912431" cy="179955"/>
        </a:xfrm>
        <a:prstGeom xmlns:a="http://schemas.openxmlformats.org/drawingml/2006/main" prst="rect">
          <a:avLst/>
        </a:prstGeom>
      </cdr:spPr>
      <cdr:txBody>
        <a:bodyPr xmlns:a="http://schemas.openxmlformats.org/drawingml/2006/main" wrap="none" rtlCol="0"/>
        <a:lstStyle xmlns:a="http://schemas.openxmlformats.org/drawingml/2006/main"/>
        <a:p xmlns:a="http://schemas.openxmlformats.org/drawingml/2006/main">
          <a:endParaRPr lang="en-US" sz="1100"/>
        </a:p>
      </cdr:txBody>
    </cdr:sp>
  </cdr:relSizeAnchor>
  <cdr:relSizeAnchor xmlns:cdr="http://schemas.openxmlformats.org/drawingml/2006/chartDrawing">
    <cdr:from>
      <cdr:x>0.26144</cdr:x>
      <cdr:y>0.01905</cdr:y>
    </cdr:from>
    <cdr:to>
      <cdr:x>0.82789</cdr:x>
      <cdr:y>0.12381</cdr:y>
    </cdr:to>
    <cdr:sp macro="" textlink="">
      <cdr:nvSpPr>
        <cdr:cNvPr id="6" name="TextBox 5"/>
        <cdr:cNvSpPr txBox="1"/>
      </cdr:nvSpPr>
      <cdr:spPr>
        <a:xfrm xmlns:a="http://schemas.openxmlformats.org/drawingml/2006/main">
          <a:off x="1143000" y="57151"/>
          <a:ext cx="2476500" cy="314325"/>
        </a:xfrm>
        <a:prstGeom xmlns:a="http://schemas.openxmlformats.org/drawingml/2006/main" prst="rect">
          <a:avLst/>
        </a:prstGeom>
      </cdr:spPr>
      <cdr:txBody>
        <a:bodyPr xmlns:a="http://schemas.openxmlformats.org/drawingml/2006/main" wrap="none" rtlCol="0"/>
        <a:lstStyle xmlns:a="http://schemas.openxmlformats.org/drawingml/2006/main"/>
        <a:p xmlns:a="http://schemas.openxmlformats.org/drawingml/2006/main">
          <a:pPr algn="ctr"/>
          <a:r>
            <a:rPr lang="en-US" sz="1800" b="1"/>
            <a:t>Return on capital employed </a:t>
          </a:r>
        </a:p>
      </cdr:txBody>
    </cdr:sp>
  </cdr:relSizeAnchor>
</c:userShapes>
</file>

<file path=ppt/drawings/drawing4.xml><?xml version="1.0" encoding="utf-8"?>
<c:userShapes xmlns:c="http://schemas.openxmlformats.org/drawingml/2006/chart">
  <cdr:relSizeAnchor xmlns:cdr="http://schemas.openxmlformats.org/drawingml/2006/chartDrawing">
    <cdr:from>
      <cdr:x>0.1244</cdr:x>
      <cdr:y>0.73958</cdr:y>
    </cdr:from>
    <cdr:to>
      <cdr:x>0.84928</cdr:x>
      <cdr:y>0.87153</cdr:y>
    </cdr:to>
    <cdr:sp macro="" textlink="">
      <cdr:nvSpPr>
        <cdr:cNvPr id="2" name="TextBox 1"/>
        <cdr:cNvSpPr txBox="1"/>
      </cdr:nvSpPr>
      <cdr:spPr>
        <a:xfrm xmlns:a="http://schemas.openxmlformats.org/drawingml/2006/main">
          <a:off x="495299" y="2028825"/>
          <a:ext cx="2886075" cy="361950"/>
        </a:xfrm>
        <a:prstGeom xmlns:a="http://schemas.openxmlformats.org/drawingml/2006/main" prst="rect">
          <a:avLst/>
        </a:prstGeom>
      </cdr:spPr>
      <cdr:txBody>
        <a:bodyPr xmlns:a="http://schemas.openxmlformats.org/drawingml/2006/main" wrap="none" rtlCol="0"/>
        <a:lstStyle xmlns:a="http://schemas.openxmlformats.org/drawingml/2006/main"/>
        <a:p xmlns:a="http://schemas.openxmlformats.org/drawingml/2006/main">
          <a:endParaRPr lang="en-US" sz="1100"/>
        </a:p>
      </cdr:txBody>
    </cdr:sp>
  </cdr:relSizeAnchor>
  <cdr:relSizeAnchor xmlns:cdr="http://schemas.openxmlformats.org/drawingml/2006/chartDrawing">
    <cdr:from>
      <cdr:x>0.05774</cdr:x>
      <cdr:y>0.79167</cdr:y>
    </cdr:from>
    <cdr:to>
      <cdr:x>0.96205</cdr:x>
      <cdr:y>0.92014</cdr:y>
    </cdr:to>
    <cdr:sp macro="" textlink="">
      <cdr:nvSpPr>
        <cdr:cNvPr id="3" name="TextBox 2"/>
        <cdr:cNvSpPr txBox="1"/>
      </cdr:nvSpPr>
      <cdr:spPr>
        <a:xfrm xmlns:a="http://schemas.openxmlformats.org/drawingml/2006/main">
          <a:off x="240905" y="2171699"/>
          <a:ext cx="3772720" cy="352425"/>
        </a:xfrm>
        <a:prstGeom xmlns:a="http://schemas.openxmlformats.org/drawingml/2006/main" prst="rect">
          <a:avLst/>
        </a:prstGeom>
      </cdr:spPr>
      <cdr:txBody>
        <a:bodyPr xmlns:a="http://schemas.openxmlformats.org/drawingml/2006/main" wrap="none" rtlCol="0"/>
        <a:lstStyle xmlns:a="http://schemas.openxmlformats.org/drawingml/2006/main"/>
        <a:p xmlns:a="http://schemas.openxmlformats.org/drawingml/2006/main">
          <a:pPr marL="0" marR="0" indent="0" defTabSz="914400" eaLnBrk="1" fontAlgn="auto" latinLnBrk="0" hangingPunct="1">
            <a:lnSpc>
              <a:spcPct val="100000"/>
            </a:lnSpc>
            <a:spcBef>
              <a:spcPts val="0"/>
            </a:spcBef>
            <a:spcAft>
              <a:spcPts val="0"/>
            </a:spcAft>
            <a:buClrTx/>
            <a:buSzTx/>
            <a:buFontTx/>
            <a:buNone/>
            <a:tabLst/>
            <a:defRPr/>
          </a:pPr>
          <a:r>
            <a:rPr lang="en-US" sz="1100">
              <a:latin typeface="+mn-lt"/>
              <a:ea typeface="+mn-ea"/>
              <a:cs typeface="+mn-cs"/>
            </a:rPr>
            <a:t>Source:</a:t>
          </a:r>
          <a:r>
            <a:rPr lang="en-US" sz="1100" baseline="0">
              <a:latin typeface="+mn-lt"/>
              <a:ea typeface="+mn-ea"/>
              <a:cs typeface="+mn-cs"/>
            </a:rPr>
            <a:t> (The Coca Cola Company,2022-24),(PepsiCo, 2022-24)</a:t>
          </a:r>
          <a:endParaRPr lang="en-US" sz="1100">
            <a:latin typeface="+mn-lt"/>
            <a:ea typeface="+mn-ea"/>
            <a:cs typeface="+mn-cs"/>
          </a:endParaRPr>
        </a:p>
        <a:p xmlns:a="http://schemas.openxmlformats.org/drawingml/2006/main">
          <a:pPr algn="ctr"/>
          <a:endParaRPr lang="en-US" sz="1100"/>
        </a:p>
      </cdr:txBody>
    </cdr:sp>
  </cdr:relSizeAnchor>
</c:userShapes>
</file>

<file path=ppt/drawings/drawing5.xml><?xml version="1.0" encoding="utf-8"?>
<c:userShapes xmlns:c="http://schemas.openxmlformats.org/drawingml/2006/chart">
  <cdr:relSizeAnchor xmlns:cdr="http://schemas.openxmlformats.org/drawingml/2006/chartDrawing">
    <cdr:from>
      <cdr:x>0.08261</cdr:x>
      <cdr:y>0.85764</cdr:y>
    </cdr:from>
    <cdr:to>
      <cdr:x>0.92826</cdr:x>
      <cdr:y>0.96181</cdr:y>
    </cdr:to>
    <cdr:sp macro="" textlink="">
      <cdr:nvSpPr>
        <cdr:cNvPr id="2" name="TextBox 1"/>
        <cdr:cNvSpPr txBox="1"/>
      </cdr:nvSpPr>
      <cdr:spPr>
        <a:xfrm xmlns:a="http://schemas.openxmlformats.org/drawingml/2006/main">
          <a:off x="361951" y="2352674"/>
          <a:ext cx="3705224" cy="285751"/>
        </a:xfrm>
        <a:prstGeom xmlns:a="http://schemas.openxmlformats.org/drawingml/2006/main" prst="rect">
          <a:avLst/>
        </a:prstGeom>
      </cdr:spPr>
      <cdr:txBody>
        <a:bodyPr xmlns:a="http://schemas.openxmlformats.org/drawingml/2006/main" wrap="none" rtlCol="0"/>
        <a:lstStyle xmlns:a="http://schemas.openxmlformats.org/drawingml/2006/main"/>
        <a:p xmlns:a="http://schemas.openxmlformats.org/drawingml/2006/main">
          <a:pPr marL="0" marR="0" indent="0" defTabSz="914400" eaLnBrk="1" fontAlgn="auto" latinLnBrk="0" hangingPunct="1">
            <a:lnSpc>
              <a:spcPct val="100000"/>
            </a:lnSpc>
            <a:spcBef>
              <a:spcPts val="0"/>
            </a:spcBef>
            <a:spcAft>
              <a:spcPts val="0"/>
            </a:spcAft>
            <a:buClrTx/>
            <a:buSzTx/>
            <a:buFontTx/>
            <a:buNone/>
            <a:tabLst/>
            <a:defRPr/>
          </a:pPr>
          <a:r>
            <a:rPr lang="en-US" sz="1100">
              <a:latin typeface="+mn-lt"/>
              <a:ea typeface="+mn-ea"/>
              <a:cs typeface="+mn-cs"/>
            </a:rPr>
            <a:t>Source:</a:t>
          </a:r>
          <a:r>
            <a:rPr lang="en-US" sz="1100" baseline="0">
              <a:latin typeface="+mn-lt"/>
              <a:ea typeface="+mn-ea"/>
              <a:cs typeface="+mn-cs"/>
            </a:rPr>
            <a:t> (The Coca Cola Company,2022-24),(PepsiCo, 2022-24)</a:t>
          </a:r>
          <a:endParaRPr lang="en-US" sz="1100">
            <a:latin typeface="+mn-lt"/>
            <a:ea typeface="+mn-ea"/>
            <a:cs typeface="+mn-cs"/>
          </a:endParaRPr>
        </a:p>
        <a:p xmlns:a="http://schemas.openxmlformats.org/drawingml/2006/main">
          <a:endParaRPr lang="en-US" sz="1100"/>
        </a:p>
      </cdr:txBody>
    </cdr:sp>
  </cdr:relSizeAnchor>
</c:userShapes>
</file>

<file path=ppt/drawings/drawing6.xml><?xml version="1.0" encoding="utf-8"?>
<c:userShapes xmlns:c="http://schemas.openxmlformats.org/drawingml/2006/chart">
  <cdr:relSizeAnchor xmlns:cdr="http://schemas.openxmlformats.org/drawingml/2006/chartDrawing">
    <cdr:from>
      <cdr:x>0.07133</cdr:x>
      <cdr:y>0.81944</cdr:y>
    </cdr:from>
    <cdr:to>
      <cdr:x>0.91035</cdr:x>
      <cdr:y>0.94097</cdr:y>
    </cdr:to>
    <cdr:sp macro="" textlink="">
      <cdr:nvSpPr>
        <cdr:cNvPr id="2" name="TextBox 1"/>
        <cdr:cNvSpPr txBox="1"/>
      </cdr:nvSpPr>
      <cdr:spPr>
        <a:xfrm xmlns:a="http://schemas.openxmlformats.org/drawingml/2006/main">
          <a:off x="303002" y="2247891"/>
          <a:ext cx="3564283" cy="333381"/>
        </a:xfrm>
        <a:prstGeom xmlns:a="http://schemas.openxmlformats.org/drawingml/2006/main" prst="rect">
          <a:avLst/>
        </a:prstGeom>
      </cdr:spPr>
      <cdr:txBody>
        <a:bodyPr xmlns:a="http://schemas.openxmlformats.org/drawingml/2006/main" wrap="none" rtlCol="0"/>
        <a:lstStyle xmlns:a="http://schemas.openxmlformats.org/drawingml/2006/main"/>
        <a:p xmlns:a="http://schemas.openxmlformats.org/drawingml/2006/main">
          <a:pPr marL="0" marR="0" indent="0" defTabSz="914400" eaLnBrk="1" fontAlgn="auto" latinLnBrk="0" hangingPunct="1">
            <a:lnSpc>
              <a:spcPct val="100000"/>
            </a:lnSpc>
            <a:spcBef>
              <a:spcPts val="0"/>
            </a:spcBef>
            <a:spcAft>
              <a:spcPts val="0"/>
            </a:spcAft>
            <a:buClrTx/>
            <a:buSzTx/>
            <a:buFontTx/>
            <a:buNone/>
            <a:tabLst/>
            <a:defRPr/>
          </a:pPr>
          <a:r>
            <a:rPr lang="en-US" sz="1100">
              <a:latin typeface="+mn-lt"/>
              <a:ea typeface="+mn-ea"/>
              <a:cs typeface="+mn-cs"/>
            </a:rPr>
            <a:t>Source:</a:t>
          </a:r>
          <a:r>
            <a:rPr lang="en-US" sz="1100" baseline="0">
              <a:latin typeface="+mn-lt"/>
              <a:ea typeface="+mn-ea"/>
              <a:cs typeface="+mn-cs"/>
            </a:rPr>
            <a:t> (The Coca Cola Company,2022-24),(PepsiCo, 2022-24)</a:t>
          </a:r>
          <a:endParaRPr lang="en-US" sz="1100">
            <a:latin typeface="+mn-lt"/>
            <a:ea typeface="+mn-ea"/>
            <a:cs typeface="+mn-cs"/>
          </a:endParaRPr>
        </a:p>
        <a:p xmlns:a="http://schemas.openxmlformats.org/drawingml/2006/main">
          <a:endParaRPr lang="en-US" sz="1100"/>
        </a:p>
      </cdr:txBody>
    </cdr:sp>
  </cdr:relSizeAnchor>
  <cdr:relSizeAnchor xmlns:cdr="http://schemas.openxmlformats.org/drawingml/2006/chartDrawing">
    <cdr:from>
      <cdr:x>0.76638</cdr:x>
      <cdr:y>0.66667</cdr:y>
    </cdr:from>
    <cdr:to>
      <cdr:x>0.97598</cdr:x>
      <cdr:y>1</cdr:y>
    </cdr:to>
    <cdr:sp macro="" textlink="">
      <cdr:nvSpPr>
        <cdr:cNvPr id="3" name="TextBox 1"/>
        <cdr:cNvSpPr txBox="1"/>
      </cdr:nvSpPr>
      <cdr:spPr>
        <a:xfrm xmlns:a="http://schemas.openxmlformats.org/drawingml/2006/main">
          <a:off x="3343274" y="2514600"/>
          <a:ext cx="914400" cy="914400"/>
        </a:xfrm>
        <a:prstGeom xmlns:a="http://schemas.openxmlformats.org/drawingml/2006/main" prst="rect">
          <a:avLst/>
        </a:prstGeom>
      </cdr:spPr>
      <cdr:txBody>
        <a:bodyPr xmlns:a="http://schemas.openxmlformats.org/drawingml/2006/main" wrap="none" rtlCol="0"/>
        <a:lstStyle xmlns:a="http://schemas.openxmlformats.org/drawingml/2006/main"/>
        <a:p xmlns:a="http://schemas.openxmlformats.org/drawingml/2006/main">
          <a:endParaRPr lang="en-US" sz="1100"/>
        </a:p>
      </cdr:txBody>
    </cdr:sp>
  </cdr:relSizeAnchor>
  <cdr:relSizeAnchor xmlns:cdr="http://schemas.openxmlformats.org/drawingml/2006/chartDrawing">
    <cdr:from>
      <cdr:x>0.10675</cdr:x>
      <cdr:y>0.66667</cdr:y>
    </cdr:from>
    <cdr:to>
      <cdr:x>0.86057</cdr:x>
      <cdr:y>1</cdr:y>
    </cdr:to>
    <cdr:sp macro="" textlink="">
      <cdr:nvSpPr>
        <cdr:cNvPr id="4" name="TextBox 2"/>
        <cdr:cNvSpPr txBox="1"/>
      </cdr:nvSpPr>
      <cdr:spPr>
        <a:xfrm xmlns:a="http://schemas.openxmlformats.org/drawingml/2006/main">
          <a:off x="466725" y="1765309"/>
          <a:ext cx="3295649" cy="882641"/>
        </a:xfrm>
        <a:prstGeom xmlns:a="http://schemas.openxmlformats.org/drawingml/2006/main" prst="rect">
          <a:avLst/>
        </a:prstGeom>
      </cdr:spPr>
      <cdr:txBody>
        <a:bodyPr xmlns:a="http://schemas.openxmlformats.org/drawingml/2006/main" wrap="none" rtlCol="0"/>
        <a:lstStyle xmlns:a="http://schemas.openxmlformats.org/drawingml/2006/main"/>
        <a:p xmlns:a="http://schemas.openxmlformats.org/drawingml/2006/main">
          <a:endParaRPr lang="en-US" sz="1100"/>
        </a:p>
      </cdr:txBody>
    </cdr:sp>
  </cdr:relSizeAnchor>
  <cdr:relSizeAnchor xmlns:cdr="http://schemas.openxmlformats.org/drawingml/2006/chartDrawing">
    <cdr:from>
      <cdr:x>0.35197</cdr:x>
      <cdr:y>0.77307</cdr:y>
    </cdr:from>
    <cdr:to>
      <cdr:x>0.56067</cdr:x>
      <cdr:y>0.84103</cdr:y>
    </cdr:to>
    <cdr:sp macro="" textlink="">
      <cdr:nvSpPr>
        <cdr:cNvPr id="6" name="TextBox 4"/>
        <cdr:cNvSpPr txBox="1"/>
      </cdr:nvSpPr>
      <cdr:spPr>
        <a:xfrm xmlns:a="http://schemas.openxmlformats.org/drawingml/2006/main">
          <a:off x="1538796" y="2047052"/>
          <a:ext cx="912431" cy="179955"/>
        </a:xfrm>
        <a:prstGeom xmlns:a="http://schemas.openxmlformats.org/drawingml/2006/main" prst="rect">
          <a:avLst/>
        </a:prstGeom>
      </cdr:spPr>
      <cdr:txBody>
        <a:bodyPr xmlns:a="http://schemas.openxmlformats.org/drawingml/2006/main" wrap="none" rtlCol="0"/>
        <a:lstStyle xmlns:a="http://schemas.openxmlformats.org/drawingml/2006/main"/>
        <a:p xmlns:a="http://schemas.openxmlformats.org/drawingml/2006/main">
          <a:endParaRPr lang="en-US" sz="1100"/>
        </a:p>
      </cdr:txBody>
    </cdr:sp>
  </cdr:relSizeAnchor>
  <cdr:relSizeAnchor xmlns:cdr="http://schemas.openxmlformats.org/drawingml/2006/chartDrawing">
    <cdr:from>
      <cdr:x>0.26144</cdr:x>
      <cdr:y>0.01905</cdr:y>
    </cdr:from>
    <cdr:to>
      <cdr:x>0.82789</cdr:x>
      <cdr:y>0.12381</cdr:y>
    </cdr:to>
    <cdr:sp macro="" textlink="">
      <cdr:nvSpPr>
        <cdr:cNvPr id="7" name="TextBox 5"/>
        <cdr:cNvSpPr txBox="1"/>
      </cdr:nvSpPr>
      <cdr:spPr>
        <a:xfrm xmlns:a="http://schemas.openxmlformats.org/drawingml/2006/main">
          <a:off x="1143000" y="57151"/>
          <a:ext cx="2476500" cy="314325"/>
        </a:xfrm>
        <a:prstGeom xmlns:a="http://schemas.openxmlformats.org/drawingml/2006/main" prst="rect">
          <a:avLst/>
        </a:prstGeom>
      </cdr:spPr>
      <cdr:txBody>
        <a:bodyPr xmlns:a="http://schemas.openxmlformats.org/drawingml/2006/main" wrap="none" rtlCol="0"/>
        <a:lstStyle xmlns:a="http://schemas.openxmlformats.org/drawingml/2006/main"/>
        <a:p xmlns:a="http://schemas.openxmlformats.org/drawingml/2006/main">
          <a:pPr algn="ctr"/>
          <a:r>
            <a:rPr lang="en-US" sz="1800" b="1"/>
            <a:t>Asset turnover</a:t>
          </a:r>
        </a:p>
      </cdr:txBody>
    </cdr:sp>
  </cdr:relSizeAnchor>
</c:userShapes>
</file>

<file path=ppt/drawings/drawing7.xml><?xml version="1.0" encoding="utf-8"?>
<c:userShapes xmlns:c="http://schemas.openxmlformats.org/drawingml/2006/chart">
  <cdr:relSizeAnchor xmlns:cdr="http://schemas.openxmlformats.org/drawingml/2006/chartDrawing">
    <cdr:from>
      <cdr:x>0.09231</cdr:x>
      <cdr:y>0.78125</cdr:y>
    </cdr:from>
    <cdr:to>
      <cdr:x>0.9011</cdr:x>
      <cdr:y>0.89236</cdr:y>
    </cdr:to>
    <cdr:sp macro="" textlink="">
      <cdr:nvSpPr>
        <cdr:cNvPr id="2" name="TextBox 1"/>
        <cdr:cNvSpPr txBox="1"/>
      </cdr:nvSpPr>
      <cdr:spPr>
        <a:xfrm xmlns:a="http://schemas.openxmlformats.org/drawingml/2006/main">
          <a:off x="400050" y="2143125"/>
          <a:ext cx="3505200" cy="304800"/>
        </a:xfrm>
        <a:prstGeom xmlns:a="http://schemas.openxmlformats.org/drawingml/2006/main" prst="rect">
          <a:avLst/>
        </a:prstGeom>
      </cdr:spPr>
      <cdr:txBody>
        <a:bodyPr xmlns:a="http://schemas.openxmlformats.org/drawingml/2006/main" wrap="none" rtlCol="0"/>
        <a:lstStyle xmlns:a="http://schemas.openxmlformats.org/drawingml/2006/main"/>
        <a:p xmlns:a="http://schemas.openxmlformats.org/drawingml/2006/main">
          <a:pPr marL="0" marR="0" indent="0" defTabSz="914400" eaLnBrk="1" fontAlgn="auto" latinLnBrk="0" hangingPunct="1">
            <a:lnSpc>
              <a:spcPct val="100000"/>
            </a:lnSpc>
            <a:spcBef>
              <a:spcPts val="0"/>
            </a:spcBef>
            <a:spcAft>
              <a:spcPts val="0"/>
            </a:spcAft>
            <a:buClrTx/>
            <a:buSzTx/>
            <a:buFontTx/>
            <a:buNone/>
            <a:tabLst/>
            <a:defRPr/>
          </a:pPr>
          <a:r>
            <a:rPr lang="en-US" sz="1100">
              <a:latin typeface="+mn-lt"/>
              <a:ea typeface="+mn-ea"/>
              <a:cs typeface="+mn-cs"/>
            </a:rPr>
            <a:t>Source:</a:t>
          </a:r>
          <a:r>
            <a:rPr lang="en-US" sz="1100" baseline="0">
              <a:latin typeface="+mn-lt"/>
              <a:ea typeface="+mn-ea"/>
              <a:cs typeface="+mn-cs"/>
            </a:rPr>
            <a:t> (The Coca Cola Company,2022-24),(PepsiCo, 2022-24)</a:t>
          </a:r>
          <a:endParaRPr lang="en-US" sz="1100">
            <a:latin typeface="+mn-lt"/>
            <a:ea typeface="+mn-ea"/>
            <a:cs typeface="+mn-cs"/>
          </a:endParaRPr>
        </a:p>
        <a:p xmlns:a="http://schemas.openxmlformats.org/drawingml/2006/main">
          <a:endParaRPr lang="en-US" sz="1100"/>
        </a:p>
      </cdr:txBody>
    </cdr:sp>
  </cdr:relSizeAnchor>
</c:userShapes>
</file>

<file path=ppt/drawings/drawing8.xml><?xml version="1.0" encoding="utf-8"?>
<c:userShapes xmlns:c="http://schemas.openxmlformats.org/drawingml/2006/chart">
  <cdr:relSizeAnchor xmlns:cdr="http://schemas.openxmlformats.org/drawingml/2006/chartDrawing">
    <cdr:from>
      <cdr:x>0.06357</cdr:x>
      <cdr:y>0.86111</cdr:y>
    </cdr:from>
    <cdr:to>
      <cdr:x>0.81418</cdr:x>
      <cdr:y>1</cdr:y>
    </cdr:to>
    <cdr:sp macro="" textlink="">
      <cdr:nvSpPr>
        <cdr:cNvPr id="2" name="TextBox 1"/>
        <cdr:cNvSpPr txBox="1"/>
      </cdr:nvSpPr>
      <cdr:spPr>
        <a:xfrm xmlns:a="http://schemas.openxmlformats.org/drawingml/2006/main">
          <a:off x="247649" y="2362200"/>
          <a:ext cx="2924175" cy="381000"/>
        </a:xfrm>
        <a:prstGeom xmlns:a="http://schemas.openxmlformats.org/drawingml/2006/main" prst="rect">
          <a:avLst/>
        </a:prstGeom>
      </cdr:spPr>
      <cdr:txBody>
        <a:bodyPr xmlns:a="http://schemas.openxmlformats.org/drawingml/2006/main" wrap="none" rtlCol="0"/>
        <a:lstStyle xmlns:a="http://schemas.openxmlformats.org/drawingml/2006/main"/>
        <a:p xmlns:a="http://schemas.openxmlformats.org/drawingml/2006/main">
          <a:pPr marL="0" marR="0" indent="0" defTabSz="914400" eaLnBrk="1" fontAlgn="auto" latinLnBrk="0" hangingPunct="1">
            <a:lnSpc>
              <a:spcPct val="100000"/>
            </a:lnSpc>
            <a:spcBef>
              <a:spcPts val="0"/>
            </a:spcBef>
            <a:spcAft>
              <a:spcPts val="0"/>
            </a:spcAft>
            <a:buClrTx/>
            <a:buSzTx/>
            <a:buFontTx/>
            <a:buNone/>
            <a:tabLst/>
            <a:defRPr/>
          </a:pPr>
          <a:r>
            <a:rPr lang="en-US" sz="1100">
              <a:latin typeface="+mn-lt"/>
              <a:ea typeface="+mn-ea"/>
              <a:cs typeface="+mn-cs"/>
            </a:rPr>
            <a:t>Source:</a:t>
          </a:r>
          <a:r>
            <a:rPr lang="en-US" sz="1100" baseline="0">
              <a:latin typeface="+mn-lt"/>
              <a:ea typeface="+mn-ea"/>
              <a:cs typeface="+mn-cs"/>
            </a:rPr>
            <a:t> (The Coca Cola Company,2022-24),(PepsiCo, 2022-24)</a:t>
          </a:r>
          <a:endParaRPr lang="en-US" sz="1100">
            <a:latin typeface="+mn-lt"/>
            <a:ea typeface="+mn-ea"/>
            <a:cs typeface="+mn-cs"/>
          </a:endParaRPr>
        </a:p>
        <a:p xmlns:a="http://schemas.openxmlformats.org/drawingml/2006/main">
          <a:endParaRPr lang="en-US" sz="1100"/>
        </a:p>
      </cdr:txBody>
    </cdr:sp>
  </cdr:relSizeAnchor>
</c:userShapes>
</file>

<file path=ppt/drawings/drawing9.xml><?xml version="1.0" encoding="utf-8"?>
<c:userShapes xmlns:c="http://schemas.openxmlformats.org/drawingml/2006/chart">
  <cdr:relSizeAnchor xmlns:cdr="http://schemas.openxmlformats.org/drawingml/2006/chartDrawing">
    <cdr:from>
      <cdr:x>0.10291</cdr:x>
      <cdr:y>0.87153</cdr:y>
    </cdr:from>
    <cdr:to>
      <cdr:x>0.76063</cdr:x>
      <cdr:y>1</cdr:y>
    </cdr:to>
    <cdr:sp macro="" textlink="">
      <cdr:nvSpPr>
        <cdr:cNvPr id="2" name="TextBox 1"/>
        <cdr:cNvSpPr txBox="1"/>
      </cdr:nvSpPr>
      <cdr:spPr>
        <a:xfrm xmlns:a="http://schemas.openxmlformats.org/drawingml/2006/main">
          <a:off x="438150" y="2390774"/>
          <a:ext cx="2800350" cy="352425"/>
        </a:xfrm>
        <a:prstGeom xmlns:a="http://schemas.openxmlformats.org/drawingml/2006/main" prst="rect">
          <a:avLst/>
        </a:prstGeom>
      </cdr:spPr>
      <cdr:txBody>
        <a:bodyPr xmlns:a="http://schemas.openxmlformats.org/drawingml/2006/main" wrap="none" rtlCol="0"/>
        <a:lstStyle xmlns:a="http://schemas.openxmlformats.org/drawingml/2006/main"/>
        <a:p xmlns:a="http://schemas.openxmlformats.org/drawingml/2006/main">
          <a:pPr marL="0" marR="0" indent="0" defTabSz="914400" eaLnBrk="1" fontAlgn="auto" latinLnBrk="0" hangingPunct="1">
            <a:lnSpc>
              <a:spcPct val="100000"/>
            </a:lnSpc>
            <a:spcBef>
              <a:spcPts val="0"/>
            </a:spcBef>
            <a:spcAft>
              <a:spcPts val="0"/>
            </a:spcAft>
            <a:buClrTx/>
            <a:buSzTx/>
            <a:buFontTx/>
            <a:buNone/>
            <a:tabLst/>
            <a:defRPr/>
          </a:pPr>
          <a:r>
            <a:rPr lang="en-US" sz="1100">
              <a:latin typeface="+mn-lt"/>
              <a:ea typeface="+mn-ea"/>
              <a:cs typeface="+mn-cs"/>
            </a:rPr>
            <a:t>Source:</a:t>
          </a:r>
          <a:r>
            <a:rPr lang="en-US" sz="1100" baseline="0">
              <a:latin typeface="+mn-lt"/>
              <a:ea typeface="+mn-ea"/>
              <a:cs typeface="+mn-cs"/>
            </a:rPr>
            <a:t> (The Coca Cola Company,2022-24),(PepsiCo, 2022-24)</a:t>
          </a:r>
          <a:endParaRPr lang="en-US" sz="1100">
            <a:latin typeface="+mn-lt"/>
            <a:ea typeface="+mn-ea"/>
            <a:cs typeface="+mn-cs"/>
          </a:endParaRPr>
        </a:p>
        <a:p xmlns:a="http://schemas.openxmlformats.org/drawingml/2006/main">
          <a:endParaRPr lang="en-US" sz="1100"/>
        </a:p>
      </cdr:txBody>
    </cdr:sp>
  </cdr:relSizeAnchor>
</c:userShapes>
</file>

<file path=ppt/drawings/drawing10.xml><?xml version="1.0" encoding="utf-8"?>
<c:userShapes xmlns:c="http://schemas.openxmlformats.org/drawingml/2006/chart">
  <cdr:relSizeAnchor xmlns:cdr="http://schemas.openxmlformats.org/drawingml/2006/chartDrawing">
    <cdr:from>
      <cdr:x>0.07569</cdr:x>
      <cdr:y>0.90323</cdr:y>
    </cdr:from>
    <cdr:to>
      <cdr:x>0.95183</cdr:x>
      <cdr:y>1</cdr:y>
    </cdr:to>
    <cdr:sp macro="" textlink="">
      <cdr:nvSpPr>
        <cdr:cNvPr id="2" name="TextBox 1"/>
        <cdr:cNvSpPr txBox="1"/>
      </cdr:nvSpPr>
      <cdr:spPr>
        <a:xfrm xmlns:a="http://schemas.openxmlformats.org/drawingml/2006/main">
          <a:off x="314325" y="2667000"/>
          <a:ext cx="3638550" cy="285750"/>
        </a:xfrm>
        <a:prstGeom xmlns:a="http://schemas.openxmlformats.org/drawingml/2006/main" prst="rect">
          <a:avLst/>
        </a:prstGeom>
      </cdr:spPr>
      <cdr:txBody>
        <a:bodyPr xmlns:a="http://schemas.openxmlformats.org/drawingml/2006/main" wrap="none" rtlCol="0"/>
        <a:lstStyle xmlns:a="http://schemas.openxmlformats.org/drawingml/2006/main"/>
        <a:p xmlns:a="http://schemas.openxmlformats.org/drawingml/2006/main">
          <a:pPr marL="0" marR="0" indent="0" defTabSz="914400" eaLnBrk="1" fontAlgn="auto" latinLnBrk="0" hangingPunct="1">
            <a:lnSpc>
              <a:spcPct val="100000"/>
            </a:lnSpc>
            <a:spcBef>
              <a:spcPts val="0"/>
            </a:spcBef>
            <a:spcAft>
              <a:spcPts val="0"/>
            </a:spcAft>
            <a:buClrTx/>
            <a:buSzTx/>
            <a:buFontTx/>
            <a:buNone/>
            <a:tabLst/>
            <a:defRPr/>
          </a:pPr>
          <a:r>
            <a:rPr lang="en-US" sz="1100">
              <a:latin typeface="+mn-lt"/>
              <a:ea typeface="+mn-ea"/>
              <a:cs typeface="+mn-cs"/>
            </a:rPr>
            <a:t>Source:</a:t>
          </a:r>
          <a:r>
            <a:rPr lang="en-US" sz="1100" baseline="0">
              <a:latin typeface="+mn-lt"/>
              <a:ea typeface="+mn-ea"/>
              <a:cs typeface="+mn-cs"/>
            </a:rPr>
            <a:t> (The Coca Cola Company,2022-24),(PepsiCo, 2022-24)</a:t>
          </a:r>
          <a:endParaRPr lang="en-US" sz="1100">
            <a:latin typeface="+mn-lt"/>
            <a:ea typeface="+mn-ea"/>
            <a:cs typeface="+mn-cs"/>
          </a:endParaRPr>
        </a:p>
        <a:p xmlns:a="http://schemas.openxmlformats.org/drawingml/2006/main">
          <a:endParaRPr lang="en-US" sz="1100"/>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4117C5-BB34-4847-BCB8-649BE7709781}" type="datetimeFigureOut">
              <a:rPr lang="en-US" smtClean="0"/>
              <a:pPr/>
              <a:t>11/6/2025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1FA5B54-16C6-41AC-93EC-11D0461C1F91}"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01FA5B54-16C6-41AC-93EC-11D0461C1F91}" type="slidenum">
              <a:rPr lang="en-US" smtClean="0"/>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44D29EE-F0BD-4E8A-8504-C190B1328464}" type="datetimeFigureOut">
              <a:rPr lang="en-US" smtClean="0"/>
              <a:pPr/>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3F33D8-7226-4B0F-8615-2B837AD454DA}"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44D29EE-F0BD-4E8A-8504-C190B1328464}" type="datetimeFigureOut">
              <a:rPr lang="en-US" smtClean="0"/>
              <a:pPr/>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3F33D8-7226-4B0F-8615-2B837AD454DA}"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44D29EE-F0BD-4E8A-8504-C190B1328464}" type="datetimeFigureOut">
              <a:rPr lang="en-US" smtClean="0"/>
              <a:pPr/>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3F33D8-7226-4B0F-8615-2B837AD454DA}"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44D29EE-F0BD-4E8A-8504-C190B1328464}" type="datetimeFigureOut">
              <a:rPr lang="en-US" smtClean="0"/>
              <a:pPr/>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3F33D8-7226-4B0F-8615-2B837AD454DA}"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44D29EE-F0BD-4E8A-8504-C190B1328464}" type="datetimeFigureOut">
              <a:rPr lang="en-US" smtClean="0"/>
              <a:pPr/>
              <a:t>11/6/2025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43F33D8-7226-4B0F-8615-2B837AD454DA}"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44D29EE-F0BD-4E8A-8504-C190B1328464}" type="datetimeFigureOut">
              <a:rPr lang="en-US" smtClean="0"/>
              <a:pPr/>
              <a:t>11/6/2025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43F33D8-7226-4B0F-8615-2B837AD454DA}"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44D29EE-F0BD-4E8A-8504-C190B1328464}" type="datetimeFigureOut">
              <a:rPr lang="en-US" smtClean="0"/>
              <a:pPr/>
              <a:t>11/6/2025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43F33D8-7226-4B0F-8615-2B837AD454DA}"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44D29EE-F0BD-4E8A-8504-C190B1328464}" type="datetimeFigureOut">
              <a:rPr lang="en-US" smtClean="0"/>
              <a:pPr/>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3F33D8-7226-4B0F-8615-2B837AD454DA}"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44D29EE-F0BD-4E8A-8504-C190B1328464}" type="datetimeFigureOut">
              <a:rPr lang="en-US" smtClean="0"/>
              <a:pPr/>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3F33D8-7226-4B0F-8615-2B837AD454DA}"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44D29EE-F0BD-4E8A-8504-C190B1328464}" type="datetimeFigureOut">
              <a:rPr lang="en-US" smtClean="0"/>
              <a:pPr/>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3F33D8-7226-4B0F-8615-2B837AD454DA}"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44D29EE-F0BD-4E8A-8504-C190B1328464}" type="datetimeFigureOut">
              <a:rPr lang="en-US" smtClean="0"/>
              <a:pPr/>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3F33D8-7226-4B0F-8615-2B837AD454DA}"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2"/>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4D29EE-F0BD-4E8A-8504-C190B1328464}" type="datetimeFigureOut">
              <a:rPr lang="en-US" smtClean="0"/>
              <a:pPr/>
              <a:t>11/6/2025</a:t>
            </a:fld>
            <a:endParaRPr lang="en-US"/>
          </a:p>
        </p:txBody>
      </p:sp>
      <p:sp>
        <p:nvSpPr>
          <p:cNvPr id="5" name="Footer Placeholder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2"/>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3F33D8-7226-4B0F-8615-2B837AD454DA}"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chart" Target="../charts/chart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100000">
              <a:srgbClr val="FF0000">
                <a:alpha val="67000"/>
              </a:srgbClr>
            </a:gs>
            <a:gs pos="39999">
              <a:srgbClr val="85C2FF"/>
            </a:gs>
            <a:gs pos="70000">
              <a:srgbClr val="C4D6EB"/>
            </a:gs>
            <a:gs pos="100000">
              <a:srgbClr val="FFEBFA"/>
            </a:gs>
          </a:gsLst>
          <a:lin ang="0" scaled="0"/>
          <a:tileRect/>
        </a:gradFill>
        <a:effectLst/>
      </p:bgPr>
    </p:bg>
    <p:spTree>
      <p:nvGrpSpPr>
        <p:cNvPr id="1" name=""/>
        <p:cNvGrpSpPr/>
        <p:nvPr/>
      </p:nvGrpSpPr>
      <p:grpSpPr>
        <a:xfrm>
          <a:off x="0" y="0"/>
          <a:ext cx="0" cy="0"/>
          <a:chOff x="0" y="0"/>
          <a:chExt cx="0" cy="0"/>
        </a:xfrm>
      </p:grpSpPr>
      <p:pic>
        <p:nvPicPr>
          <p:cNvPr id="4" name="Picture 3" descr="pngegg.png"/>
          <p:cNvPicPr>
            <a:picLocks noChangeAspect="1"/>
          </p:cNvPicPr>
          <p:nvPr/>
        </p:nvPicPr>
        <p:blipFill>
          <a:blip r:embed="rId3" cstate="print"/>
          <a:stretch>
            <a:fillRect/>
          </a:stretch>
        </p:blipFill>
        <p:spPr>
          <a:xfrm>
            <a:off x="0" y="0"/>
            <a:ext cx="2323712" cy="1000132"/>
          </a:xfrm>
          <a:prstGeom prst="rect">
            <a:avLst/>
          </a:prstGeom>
        </p:spPr>
      </p:pic>
      <p:pic>
        <p:nvPicPr>
          <p:cNvPr id="5" name="Picture 4" descr="pngwing.com (4).png"/>
          <p:cNvPicPr>
            <a:picLocks noChangeAspect="1"/>
          </p:cNvPicPr>
          <p:nvPr/>
        </p:nvPicPr>
        <p:blipFill>
          <a:blip r:embed="rId4" cstate="print"/>
          <a:stretch>
            <a:fillRect/>
          </a:stretch>
        </p:blipFill>
        <p:spPr>
          <a:xfrm>
            <a:off x="214282" y="1285860"/>
            <a:ext cx="3429024" cy="3429024"/>
          </a:xfrm>
          <a:prstGeom prst="rect">
            <a:avLst/>
          </a:prstGeom>
        </p:spPr>
      </p:pic>
      <p:pic>
        <p:nvPicPr>
          <p:cNvPr id="6" name="Picture 5" descr="obup.png"/>
          <p:cNvPicPr>
            <a:picLocks noChangeAspect="1"/>
          </p:cNvPicPr>
          <p:nvPr/>
        </p:nvPicPr>
        <p:blipFill>
          <a:blip r:embed="rId5" cstate="print"/>
          <a:stretch>
            <a:fillRect/>
          </a:stretch>
        </p:blipFill>
        <p:spPr>
          <a:xfrm>
            <a:off x="6429388" y="214290"/>
            <a:ext cx="2452333" cy="1462536"/>
          </a:xfrm>
          <a:prstGeom prst="rect">
            <a:avLst/>
          </a:prstGeom>
        </p:spPr>
      </p:pic>
      <p:sp>
        <p:nvSpPr>
          <p:cNvPr id="7" name="TextBox 6"/>
          <p:cNvSpPr txBox="1"/>
          <p:nvPr/>
        </p:nvSpPr>
        <p:spPr>
          <a:xfrm>
            <a:off x="3857620" y="2571744"/>
            <a:ext cx="5072098" cy="1631216"/>
          </a:xfrm>
          <a:prstGeom prst="rect">
            <a:avLst/>
          </a:prstGeom>
          <a:noFill/>
        </p:spPr>
        <p:txBody>
          <a:bodyPr wrap="square" rtlCol="0">
            <a:spAutoFit/>
          </a:bodyPr>
          <a:lstStyle/>
          <a:p>
            <a:pPr algn="ctr"/>
            <a:r>
              <a:rPr lang="en-IN" sz="2000" b="1" dirty="0" smtClean="0">
                <a:latin typeface="+mj-lt"/>
              </a:rPr>
              <a:t>Topic-8</a:t>
            </a:r>
          </a:p>
          <a:p>
            <a:pPr algn="ctr"/>
            <a:endParaRPr lang="en-IN" sz="2000" b="1" dirty="0" smtClean="0">
              <a:latin typeface="+mj-lt"/>
            </a:endParaRPr>
          </a:p>
          <a:p>
            <a:pPr algn="ctr"/>
            <a:r>
              <a:rPr lang="en-IN" sz="2000" b="1" dirty="0" smtClean="0">
                <a:latin typeface="+mj-lt"/>
              </a:rPr>
              <a:t>Analysis </a:t>
            </a:r>
            <a:r>
              <a:rPr lang="en-IN" sz="2000" b="1" dirty="0">
                <a:latin typeface="+mj-lt"/>
              </a:rPr>
              <a:t>and </a:t>
            </a:r>
            <a:r>
              <a:rPr lang="en-IN" sz="2000" b="1" dirty="0" smtClean="0">
                <a:latin typeface="+mj-lt"/>
              </a:rPr>
              <a:t>evaluation of </a:t>
            </a:r>
            <a:r>
              <a:rPr lang="en-IN" sz="2000" b="1" dirty="0">
                <a:latin typeface="+mj-lt"/>
              </a:rPr>
              <a:t>the business and financial performance of </a:t>
            </a:r>
            <a:r>
              <a:rPr lang="en-IN" sz="2000" b="1" dirty="0" smtClean="0">
                <a:latin typeface="+mj-lt"/>
              </a:rPr>
              <a:t>Coca Cola over </a:t>
            </a:r>
            <a:r>
              <a:rPr lang="en-IN" sz="2000" b="1" dirty="0">
                <a:latin typeface="+mj-lt"/>
              </a:rPr>
              <a:t>a three year </a:t>
            </a:r>
            <a:r>
              <a:rPr lang="en-IN" sz="2000" b="1" dirty="0" smtClean="0">
                <a:latin typeface="+mj-lt"/>
              </a:rPr>
              <a:t>period</a:t>
            </a:r>
            <a:endParaRPr lang="en-US" sz="2000" b="1" dirty="0">
              <a:latin typeface="+mj-lt"/>
            </a:endParaRPr>
          </a:p>
        </p:txBody>
      </p:sp>
      <p:sp>
        <p:nvSpPr>
          <p:cNvPr id="10" name="TextBox 9"/>
          <p:cNvSpPr txBox="1"/>
          <p:nvPr/>
        </p:nvSpPr>
        <p:spPr>
          <a:xfrm>
            <a:off x="357158" y="4929198"/>
            <a:ext cx="4429156" cy="923330"/>
          </a:xfrm>
          <a:prstGeom prst="rect">
            <a:avLst/>
          </a:prstGeom>
          <a:noFill/>
        </p:spPr>
        <p:txBody>
          <a:bodyPr wrap="square" rtlCol="0">
            <a:spAutoFit/>
          </a:bodyPr>
          <a:lstStyle/>
          <a:p>
            <a:r>
              <a:rPr lang="en-US" b="1" dirty="0">
                <a:latin typeface="+mj-lt"/>
              </a:rPr>
              <a:t>ACCA Registration number: 5593364</a:t>
            </a:r>
            <a:endParaRPr lang="en-US" dirty="0">
              <a:latin typeface="+mj-lt"/>
            </a:endParaRPr>
          </a:p>
          <a:p>
            <a:r>
              <a:rPr lang="en-US" b="1" dirty="0">
                <a:latin typeface="+mj-lt"/>
              </a:rPr>
              <a:t>Submission period: 51</a:t>
            </a:r>
            <a:endParaRPr lang="en-US" dirty="0">
              <a:latin typeface="+mj-lt"/>
            </a:endParaRPr>
          </a:p>
          <a:p>
            <a:endParaRPr lang="en-US" dirty="0"/>
          </a:p>
        </p:txBody>
      </p:sp>
      <p:pic>
        <p:nvPicPr>
          <p:cNvPr id="11" name="Picture 10" descr="pngwing.com.png"/>
          <p:cNvPicPr>
            <a:picLocks noChangeAspect="1"/>
          </p:cNvPicPr>
          <p:nvPr/>
        </p:nvPicPr>
        <p:blipFill>
          <a:blip r:embed="rId6" cstate="print"/>
          <a:stretch>
            <a:fillRect/>
          </a:stretch>
        </p:blipFill>
        <p:spPr>
          <a:xfrm>
            <a:off x="5214942" y="4143380"/>
            <a:ext cx="2867706" cy="221457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4282" y="274638"/>
            <a:ext cx="8786874" cy="1296974"/>
          </a:xfrm>
        </p:spPr>
        <p:txBody>
          <a:bodyPr>
            <a:normAutofit/>
          </a:bodyPr>
          <a:lstStyle/>
          <a:p>
            <a:r>
              <a:rPr lang="en-IN" sz="2800" b="1" i="1" dirty="0" smtClean="0"/>
              <a:t>Introduction to The Coca Cola Company and PepsiCo</a:t>
            </a:r>
            <a:endParaRPr lang="en-US" sz="2800" b="1" i="1" dirty="0"/>
          </a:p>
        </p:txBody>
      </p:sp>
      <p:pic>
        <p:nvPicPr>
          <p:cNvPr id="5" name="Content Placeholder 4" descr="pngwing.com.png"/>
          <p:cNvPicPr>
            <a:picLocks noGrp="1" noChangeAspect="1"/>
          </p:cNvPicPr>
          <p:nvPr>
            <p:ph sz="half" idx="1"/>
          </p:nvPr>
        </p:nvPicPr>
        <p:blipFill>
          <a:blip r:embed="rId2" cstate="print"/>
          <a:stretch>
            <a:fillRect/>
          </a:stretch>
        </p:blipFill>
        <p:spPr>
          <a:xfrm>
            <a:off x="785786" y="1000108"/>
            <a:ext cx="2930894" cy="2268226"/>
          </a:xfrm>
        </p:spPr>
      </p:pic>
      <p:pic>
        <p:nvPicPr>
          <p:cNvPr id="6" name="Content Placeholder 5" descr="pngwing.com (2).png"/>
          <p:cNvPicPr>
            <a:picLocks noGrp="1" noChangeAspect="1"/>
          </p:cNvPicPr>
          <p:nvPr>
            <p:ph sz="half" idx="2"/>
          </p:nvPr>
        </p:nvPicPr>
        <p:blipFill>
          <a:blip r:embed="rId3" cstate="print"/>
          <a:stretch>
            <a:fillRect/>
          </a:stretch>
        </p:blipFill>
        <p:spPr>
          <a:xfrm>
            <a:off x="4500562" y="1428736"/>
            <a:ext cx="4038600" cy="1161427"/>
          </a:xfrm>
        </p:spPr>
      </p:pic>
      <p:sp>
        <p:nvSpPr>
          <p:cNvPr id="8" name="TextBox 7"/>
          <p:cNvSpPr txBox="1"/>
          <p:nvPr/>
        </p:nvSpPr>
        <p:spPr>
          <a:xfrm>
            <a:off x="4643438" y="3071810"/>
            <a:ext cx="4286280" cy="2862322"/>
          </a:xfrm>
          <a:prstGeom prst="rect">
            <a:avLst/>
          </a:prstGeom>
          <a:noFill/>
        </p:spPr>
        <p:txBody>
          <a:bodyPr wrap="square" rtlCol="0">
            <a:spAutoFit/>
          </a:bodyPr>
          <a:lstStyle/>
          <a:p>
            <a:pPr>
              <a:buFont typeface="Arial" pitchFamily="34" charset="0"/>
              <a:buChar char="•"/>
            </a:pPr>
            <a:r>
              <a:rPr lang="en-IN" dirty="0" smtClean="0"/>
              <a:t>Founded in 1965 in New York.</a:t>
            </a:r>
          </a:p>
          <a:p>
            <a:endParaRPr lang="en-IN" dirty="0" smtClean="0"/>
          </a:p>
          <a:p>
            <a:pPr>
              <a:buFont typeface="Arial" pitchFamily="34" charset="0"/>
              <a:buChar char="•"/>
            </a:pPr>
            <a:r>
              <a:rPr lang="en-IN" dirty="0" smtClean="0"/>
              <a:t>With a global operation in food and beverage in over 200 countries.</a:t>
            </a:r>
          </a:p>
          <a:p>
            <a:endParaRPr lang="en-IN" dirty="0" smtClean="0"/>
          </a:p>
          <a:p>
            <a:pPr>
              <a:buFont typeface="Arial" pitchFamily="34" charset="0"/>
              <a:buChar char="•"/>
            </a:pPr>
            <a:r>
              <a:rPr lang="en-IN" dirty="0" smtClean="0"/>
              <a:t>Investing in water stewardship, recyclable packing, and carbon-neutral projects.</a:t>
            </a:r>
          </a:p>
          <a:p>
            <a:endParaRPr lang="en-IN" dirty="0" smtClean="0"/>
          </a:p>
          <a:p>
            <a:pPr>
              <a:buFont typeface="Arial" pitchFamily="34" charset="0"/>
              <a:buChar char="•"/>
            </a:pPr>
            <a:r>
              <a:rPr lang="en-IN" dirty="0" smtClean="0"/>
              <a:t>Owns brands like Tropicana, Lay’s, Gatorade and Quaker.</a:t>
            </a:r>
          </a:p>
        </p:txBody>
      </p:sp>
      <p:sp>
        <p:nvSpPr>
          <p:cNvPr id="9" name="TextBox 8"/>
          <p:cNvSpPr txBox="1"/>
          <p:nvPr/>
        </p:nvSpPr>
        <p:spPr>
          <a:xfrm>
            <a:off x="357158" y="3071810"/>
            <a:ext cx="4143404" cy="3139321"/>
          </a:xfrm>
          <a:prstGeom prst="rect">
            <a:avLst/>
          </a:prstGeom>
          <a:noFill/>
        </p:spPr>
        <p:txBody>
          <a:bodyPr wrap="square" rtlCol="0">
            <a:spAutoFit/>
          </a:bodyPr>
          <a:lstStyle/>
          <a:p>
            <a:pPr>
              <a:buFont typeface="Arial" pitchFamily="34" charset="0"/>
              <a:buChar char="•"/>
            </a:pPr>
            <a:r>
              <a:rPr lang="en-IN" dirty="0" smtClean="0"/>
              <a:t>Established in 1886 in Atlanta, Georgia.</a:t>
            </a:r>
          </a:p>
          <a:p>
            <a:endParaRPr lang="en-IN" dirty="0" smtClean="0"/>
          </a:p>
          <a:p>
            <a:pPr>
              <a:buFont typeface="Arial" pitchFamily="34" charset="0"/>
              <a:buChar char="•"/>
            </a:pPr>
            <a:r>
              <a:rPr lang="en-IN" dirty="0" smtClean="0"/>
              <a:t>With a global portfolio of more then 200 brands.</a:t>
            </a:r>
          </a:p>
          <a:p>
            <a:endParaRPr lang="en-IN" dirty="0" smtClean="0"/>
          </a:p>
          <a:p>
            <a:pPr>
              <a:buFont typeface="Arial" pitchFamily="34" charset="0"/>
              <a:buChar char="•"/>
            </a:pPr>
            <a:r>
              <a:rPr lang="en-IN" dirty="0" smtClean="0"/>
              <a:t>Implementing sustainability oriented strategies .</a:t>
            </a:r>
          </a:p>
          <a:p>
            <a:endParaRPr lang="en-IN" dirty="0" smtClean="0"/>
          </a:p>
          <a:p>
            <a:pPr>
              <a:buFont typeface="Arial" pitchFamily="34" charset="0"/>
              <a:buChar char="•"/>
            </a:pPr>
            <a:r>
              <a:rPr lang="en-IN" dirty="0" smtClean="0"/>
              <a:t>Holds approximately 44.9% of the market share in U.S. Carbonated soft drink market.</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u="sng" dirty="0" smtClean="0">
                <a:latin typeface="Constantia" pitchFamily="18" charset="0"/>
              </a:rPr>
              <a:t>PESTLE Analysis</a:t>
            </a:r>
            <a:endParaRPr lang="en-US" b="1" u="sng" dirty="0">
              <a:latin typeface="Constantia" pitchFamily="18" charset="0"/>
            </a:endParaRPr>
          </a:p>
        </p:txBody>
      </p:sp>
      <p:sp>
        <p:nvSpPr>
          <p:cNvPr id="4" name="Content Placeholder 3"/>
          <p:cNvSpPr>
            <a:spLocks noGrp="1"/>
          </p:cNvSpPr>
          <p:nvPr>
            <p:ph sz="half" idx="2"/>
          </p:nvPr>
        </p:nvSpPr>
        <p:spPr>
          <a:xfrm>
            <a:off x="571472" y="1600202"/>
            <a:ext cx="8115328" cy="4525963"/>
          </a:xfrm>
        </p:spPr>
        <p:txBody>
          <a:bodyPr>
            <a:normAutofit/>
          </a:bodyPr>
          <a:lstStyle/>
          <a:p>
            <a:pPr>
              <a:buNone/>
            </a:pPr>
            <a:r>
              <a:rPr lang="en-IN" sz="2400" b="1" dirty="0" smtClean="0"/>
              <a:t>Political factors</a:t>
            </a:r>
            <a:r>
              <a:rPr lang="en-IN" b="1" dirty="0" smtClean="0"/>
              <a:t>:</a:t>
            </a:r>
          </a:p>
          <a:p>
            <a:r>
              <a:rPr lang="en-US" sz="2000" dirty="0" smtClean="0"/>
              <a:t>Russia-Ukraine war affected global food supply systems, raising prices and increasing market volatility.</a:t>
            </a:r>
            <a:endParaRPr lang="en-US" sz="2000" dirty="0"/>
          </a:p>
          <a:p>
            <a:r>
              <a:rPr lang="en-US" sz="2000" dirty="0" smtClean="0"/>
              <a:t>To safeguard against legal and financial concerns, FDA food safety and labeling rules are strict.</a:t>
            </a:r>
            <a:endParaRPr lang="en-US" sz="2000" dirty="0"/>
          </a:p>
          <a:p>
            <a:r>
              <a:rPr lang="en-US" sz="2000" dirty="0" smtClean="0"/>
              <a:t>International trade and markets are limited by sanctions and geopolitics.</a:t>
            </a:r>
          </a:p>
          <a:p>
            <a:pPr>
              <a:buNone/>
            </a:pPr>
            <a:r>
              <a:rPr lang="en-IN" sz="2400" b="1" dirty="0" smtClean="0">
                <a:latin typeface="+mj-lt"/>
              </a:rPr>
              <a:t>Economic Factors:</a:t>
            </a:r>
          </a:p>
          <a:p>
            <a:r>
              <a:rPr lang="en-US" sz="2000" dirty="0" smtClean="0"/>
              <a:t>Supply chain disruptions and geopolitical uncertainty diminish industry resilience.</a:t>
            </a:r>
            <a:endParaRPr lang="en-US" sz="2000" dirty="0"/>
          </a:p>
          <a:p>
            <a:r>
              <a:rPr lang="en-US" sz="2000" dirty="0" smtClean="0"/>
              <a:t>Inflation raises operational and production expenses, lowering profits.</a:t>
            </a:r>
            <a:endParaRPr lang="en-US" sz="2000" dirty="0"/>
          </a:p>
          <a:p>
            <a:r>
              <a:rPr lang="en-US" sz="2000" dirty="0" smtClean="0"/>
              <a:t>Consumer spending and demand change due to recession worries and economic uncertainty.</a:t>
            </a:r>
            <a:endParaRPr lang="en-US" sz="2000"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785786" y="428604"/>
            <a:ext cx="7429552" cy="5786478"/>
          </a:xfrm>
        </p:spPr>
        <p:txBody>
          <a:bodyPr anchor="ctr">
            <a:normAutofit/>
          </a:bodyPr>
          <a:lstStyle/>
          <a:p>
            <a:pPr algn="l"/>
            <a:endParaRPr lang="en-IN" sz="2400" b="1" dirty="0" smtClean="0">
              <a:solidFill>
                <a:schemeClr val="tx1"/>
              </a:solidFill>
              <a:latin typeface="+mj-lt"/>
            </a:endParaRPr>
          </a:p>
          <a:p>
            <a:pPr algn="l"/>
            <a:r>
              <a:rPr lang="en-IN" sz="2400" b="1" dirty="0" smtClean="0">
                <a:solidFill>
                  <a:schemeClr val="tx1"/>
                </a:solidFill>
                <a:latin typeface="+mj-lt"/>
              </a:rPr>
              <a:t>Social Factor:</a:t>
            </a:r>
          </a:p>
          <a:p>
            <a:pPr algn="l">
              <a:buFont typeface="Arial" pitchFamily="34" charset="0"/>
              <a:buChar char="•"/>
            </a:pPr>
            <a:r>
              <a:rPr lang="en-US" sz="2000" dirty="0" smtClean="0">
                <a:solidFill>
                  <a:schemeClr val="tx1"/>
                </a:solidFill>
              </a:rPr>
              <a:t>  Health awareness increases demand for low-sugar, natural, and functional drinks.</a:t>
            </a:r>
            <a:endParaRPr lang="en-US" sz="2000" dirty="0">
              <a:solidFill>
                <a:schemeClr val="tx1"/>
              </a:solidFill>
            </a:endParaRPr>
          </a:p>
          <a:p>
            <a:pPr algn="l">
              <a:buFont typeface="Arial" pitchFamily="34" charset="0"/>
              <a:buChar char="•"/>
            </a:pPr>
            <a:r>
              <a:rPr lang="en-US" sz="2000" dirty="0" smtClean="0">
                <a:solidFill>
                  <a:schemeClr val="tx1"/>
                </a:solidFill>
              </a:rPr>
              <a:t>  Lifestyles affect customer preferences for healthier drinks.</a:t>
            </a:r>
            <a:endParaRPr lang="en-US" sz="2000" dirty="0">
              <a:solidFill>
                <a:schemeClr val="tx1"/>
              </a:solidFill>
            </a:endParaRPr>
          </a:p>
          <a:p>
            <a:pPr algn="l">
              <a:buFont typeface="Arial" pitchFamily="34" charset="0"/>
              <a:buChar char="•"/>
            </a:pPr>
            <a:r>
              <a:rPr lang="en-US" sz="2000" dirty="0" smtClean="0">
                <a:solidFill>
                  <a:schemeClr val="tx1"/>
                </a:solidFill>
              </a:rPr>
              <a:t>  Social media and influencer marketing affect younger customers' brand perception and beverage preferences.</a:t>
            </a:r>
          </a:p>
          <a:p>
            <a:pPr algn="l"/>
            <a:endParaRPr lang="en-IN" sz="2000" dirty="0" smtClean="0">
              <a:solidFill>
                <a:schemeClr val="tx1"/>
              </a:solidFill>
            </a:endParaRPr>
          </a:p>
          <a:p>
            <a:pPr algn="l"/>
            <a:r>
              <a:rPr lang="en-IN" sz="2400" b="1" dirty="0" smtClean="0">
                <a:solidFill>
                  <a:schemeClr val="tx1"/>
                </a:solidFill>
                <a:latin typeface="+mj-lt"/>
              </a:rPr>
              <a:t>Technological Factor</a:t>
            </a:r>
            <a:r>
              <a:rPr lang="en-IN" sz="2400" b="1" dirty="0">
                <a:solidFill>
                  <a:schemeClr val="tx1"/>
                </a:solidFill>
              </a:rPr>
              <a:t>:</a:t>
            </a:r>
          </a:p>
          <a:p>
            <a:pPr algn="l">
              <a:buFont typeface="Arial" pitchFamily="34" charset="0"/>
              <a:buChar char="•"/>
            </a:pPr>
            <a:r>
              <a:rPr lang="en-US" sz="2000" dirty="0" smtClean="0">
                <a:solidFill>
                  <a:schemeClr val="tx1"/>
                </a:solidFill>
              </a:rPr>
              <a:t>  Industry uses AI, </a:t>
            </a:r>
            <a:r>
              <a:rPr lang="en-US" sz="2000" dirty="0" err="1" smtClean="0">
                <a:solidFill>
                  <a:schemeClr val="tx1"/>
                </a:solidFill>
              </a:rPr>
              <a:t>IoT</a:t>
            </a:r>
            <a:r>
              <a:rPr lang="en-US" sz="2000" dirty="0" smtClean="0">
                <a:solidFill>
                  <a:schemeClr val="tx1"/>
                </a:solidFill>
              </a:rPr>
              <a:t>, and machine learning to innovate and improve output.</a:t>
            </a:r>
            <a:endParaRPr lang="en-US" sz="2000" dirty="0">
              <a:solidFill>
                <a:schemeClr val="tx1"/>
              </a:solidFill>
            </a:endParaRPr>
          </a:p>
          <a:p>
            <a:pPr algn="l">
              <a:buFont typeface="Arial" pitchFamily="34" charset="0"/>
              <a:buChar char="•"/>
            </a:pPr>
            <a:r>
              <a:rPr lang="en-US" sz="2000" dirty="0" smtClean="0">
                <a:solidFill>
                  <a:schemeClr val="tx1"/>
                </a:solidFill>
              </a:rPr>
              <a:t>  Generative AI speeds product development and </a:t>
            </a:r>
            <a:r>
              <a:rPr lang="en-US" sz="2000" dirty="0" err="1" smtClean="0">
                <a:solidFill>
                  <a:schemeClr val="tx1"/>
                </a:solidFill>
              </a:rPr>
              <a:t>personalises</a:t>
            </a:r>
            <a:r>
              <a:rPr lang="en-US" sz="2000" dirty="0" smtClean="0">
                <a:solidFill>
                  <a:schemeClr val="tx1"/>
                </a:solidFill>
              </a:rPr>
              <a:t> client interactions.</a:t>
            </a:r>
            <a:endParaRPr lang="en-US" sz="2000" dirty="0">
              <a:solidFill>
                <a:schemeClr val="tx1"/>
              </a:solidFill>
            </a:endParaRPr>
          </a:p>
          <a:p>
            <a:pPr algn="l">
              <a:buFont typeface="Arial" pitchFamily="34" charset="0"/>
              <a:buChar char="•"/>
            </a:pPr>
            <a:r>
              <a:rPr lang="en-US" sz="2000" dirty="0" smtClean="0">
                <a:solidFill>
                  <a:schemeClr val="tx1"/>
                </a:solidFill>
              </a:rPr>
              <a:t>  </a:t>
            </a:r>
            <a:r>
              <a:rPr lang="en-US" sz="2000" dirty="0" err="1" smtClean="0">
                <a:solidFill>
                  <a:schemeClr val="tx1"/>
                </a:solidFill>
              </a:rPr>
              <a:t>Blockchain</a:t>
            </a:r>
            <a:r>
              <a:rPr lang="en-US" sz="2000" dirty="0" smtClean="0">
                <a:solidFill>
                  <a:schemeClr val="tx1"/>
                </a:solidFill>
              </a:rPr>
              <a:t> and digital traceability boost supply chain food safety, transparency, and investor confidence.</a:t>
            </a:r>
            <a:endParaRPr lang="en-US" sz="2000" dirty="0">
              <a:solidFill>
                <a:schemeClr val="tx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3"/>
          <p:cNvSpPr txBox="1">
            <a:spLocks/>
          </p:cNvSpPr>
          <p:nvPr/>
        </p:nvSpPr>
        <p:spPr>
          <a:xfrm>
            <a:off x="571472" y="714356"/>
            <a:ext cx="8115328" cy="5054619"/>
          </a:xfrm>
          <a:prstGeom prst="rect">
            <a:avLst/>
          </a:prstGeom>
        </p:spPr>
        <p:txBody>
          <a:bodyPr>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IN" sz="2400" b="1" i="0" u="none" strike="noStrike" kern="1200" cap="none" spc="0" normalizeH="0" baseline="0" noProof="0" dirty="0" smtClean="0">
                <a:ln>
                  <a:noFill/>
                </a:ln>
                <a:solidFill>
                  <a:schemeClr val="tx1"/>
                </a:solidFill>
                <a:effectLst/>
                <a:uLnTx/>
                <a:uFillTx/>
                <a:latin typeface="+mj-lt"/>
                <a:ea typeface="+mn-ea"/>
                <a:cs typeface="+mn-cs"/>
              </a:rPr>
              <a:t>Legal factors</a:t>
            </a:r>
            <a:r>
              <a:rPr kumimoji="0" lang="en-IN" sz="3200" b="1" i="0" u="none" strike="noStrike" kern="1200" cap="none" spc="0" normalizeH="0" baseline="0" noProof="0" dirty="0" smtClean="0">
                <a:ln>
                  <a:noFill/>
                </a:ln>
                <a:solidFill>
                  <a:schemeClr val="tx1"/>
                </a:solidFill>
                <a:effectLst/>
                <a:uLnTx/>
                <a:uFillTx/>
                <a:latin typeface="+mn-lt"/>
                <a:ea typeface="+mn-ea"/>
                <a:cs typeface="+mn-cs"/>
              </a:rPr>
              <a:t>:</a:t>
            </a:r>
          </a:p>
          <a:p>
            <a:pPr marL="342900" lvl="0" indent="-342900">
              <a:spcBef>
                <a:spcPct val="20000"/>
              </a:spcBef>
              <a:buFont typeface="Arial" pitchFamily="34" charset="0"/>
              <a:buChar char="•"/>
            </a:pPr>
            <a:r>
              <a:rPr lang="en-US" sz="2000" dirty="0" smtClean="0"/>
              <a:t>Food and beverage companies are being sued for false “all-natural” labeling.</a:t>
            </a:r>
            <a:endParaRPr lang="en-US" sz="2000" dirty="0"/>
          </a:p>
          <a:p>
            <a:pPr marL="342900" lvl="0" indent="-342900">
              <a:spcBef>
                <a:spcPct val="20000"/>
              </a:spcBef>
              <a:buFont typeface="Arial" pitchFamily="34" charset="0"/>
              <a:buChar char="•"/>
            </a:pPr>
            <a:r>
              <a:rPr lang="en-US" sz="2000" dirty="0" smtClean="0"/>
              <a:t>The rise of class lawsuits calls for clearer product labels.</a:t>
            </a:r>
            <a:endParaRPr lang="en-US" sz="2000" dirty="0"/>
          </a:p>
          <a:p>
            <a:pPr marL="342900" lvl="0" indent="-342900">
              <a:spcBef>
                <a:spcPct val="20000"/>
              </a:spcBef>
              <a:buFont typeface="Arial" pitchFamily="34" charset="0"/>
              <a:buChar char="•"/>
            </a:pPr>
            <a:r>
              <a:rPr lang="en-US" sz="2000" dirty="0" smtClean="0"/>
              <a:t>Governments ought to improve regulations to protect youngsters from aggressive marketing.</a:t>
            </a:r>
          </a:p>
          <a:p>
            <a:pPr marL="342900" lvl="0" indent="-342900">
              <a:spcBef>
                <a:spcPct val="20000"/>
              </a:spcBef>
            </a:pPr>
            <a:endParaRPr kumimoji="0" lang="en-IN" sz="2000" i="0" u="none" strike="noStrike" kern="1200" cap="none" spc="0" normalizeH="0" baseline="0" noProof="0" dirty="0" smtClean="0">
              <a:ln>
                <a:noFill/>
              </a:ln>
              <a:effectLst/>
              <a:uLnTx/>
              <a:uFillTx/>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IN" sz="2400" b="1" i="0" u="none" strike="noStrike" kern="1200" cap="none" spc="0" normalizeH="0" baseline="0" noProof="0" dirty="0" smtClean="0">
                <a:ln>
                  <a:noFill/>
                </a:ln>
                <a:solidFill>
                  <a:schemeClr val="tx1"/>
                </a:solidFill>
                <a:effectLst/>
                <a:uLnTx/>
                <a:uFillTx/>
                <a:latin typeface="+mj-lt"/>
                <a:ea typeface="+mn-ea"/>
                <a:cs typeface="+mn-cs"/>
              </a:rPr>
              <a:t>Environmental Factors:</a:t>
            </a:r>
          </a:p>
          <a:p>
            <a:pPr marL="342900" lvl="0" indent="-342900">
              <a:spcBef>
                <a:spcPct val="20000"/>
              </a:spcBef>
              <a:buFont typeface="Arial" pitchFamily="34" charset="0"/>
              <a:buChar char="•"/>
            </a:pPr>
            <a:r>
              <a:rPr lang="en-US" sz="2000" dirty="0" smtClean="0"/>
              <a:t>New EU packaging standards seek to increase refilling, reuse, and recycling by 2030.</a:t>
            </a:r>
            <a:endParaRPr lang="en-US" sz="2000" dirty="0"/>
          </a:p>
          <a:p>
            <a:pPr marL="342900" lvl="0" indent="-342900">
              <a:spcBef>
                <a:spcPct val="20000"/>
              </a:spcBef>
              <a:buFont typeface="Arial" pitchFamily="34" charset="0"/>
              <a:buChar char="•"/>
            </a:pPr>
            <a:r>
              <a:rPr lang="en-US" sz="2000" dirty="0" smtClean="0"/>
              <a:t>Plastic recycling mandates improve beverage packaging sustainability.</a:t>
            </a:r>
            <a:endParaRPr lang="en-US" sz="2000" dirty="0"/>
          </a:p>
          <a:p>
            <a:pPr marL="342900" lvl="0" indent="-342900">
              <a:spcBef>
                <a:spcPct val="20000"/>
              </a:spcBef>
              <a:buFont typeface="Arial" pitchFamily="34" charset="0"/>
              <a:buChar char="•"/>
            </a:pPr>
            <a:r>
              <a:rPr lang="en-US" sz="2000" dirty="0" smtClean="0"/>
              <a:t>Purified water and effective resource management help industrial sustainability objectives.</a:t>
            </a:r>
            <a:endParaRPr kumimoji="0" lang="en-IN" sz="2000" i="0" u="none" strike="noStrike" kern="1200" cap="none" spc="0" normalizeH="0" baseline="0" noProof="0" dirty="0" smtClean="0">
              <a:ln>
                <a:noFill/>
              </a:ln>
              <a:solidFill>
                <a:schemeClr val="tx1"/>
              </a:solidFill>
              <a:effectLst/>
              <a:uLnTx/>
              <a:uFillTx/>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IN" sz="2000" i="0" u="none" strike="noStrike" kern="1200" cap="none" spc="0" normalizeH="0" baseline="0" noProof="0" dirty="0" smtClean="0">
              <a:ln>
                <a:noFill/>
              </a:ln>
              <a:solidFill>
                <a:schemeClr val="tx1"/>
              </a:solidFill>
              <a:effectLst/>
              <a:uLnTx/>
              <a:uFillTx/>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1143000"/>
          </a:xfrm>
          <a:prstGeom prst="rect">
            <a:avLst/>
          </a:prstGeom>
        </p:spPr>
        <p:txBody>
          <a:bodyPr/>
          <a:lstStyle/>
          <a:p>
            <a:pPr marL="0" marR="0" lvl="0" indent="0" algn="ctr" defTabSz="914400" rtl="0" eaLnBrk="1" fontAlgn="auto" latinLnBrk="0" hangingPunct="1">
              <a:lnSpc>
                <a:spcPct val="150000"/>
              </a:lnSpc>
              <a:spcBef>
                <a:spcPct val="0"/>
              </a:spcBef>
              <a:spcAft>
                <a:spcPts val="0"/>
              </a:spcAft>
              <a:buClrTx/>
              <a:buSzTx/>
              <a:buFontTx/>
              <a:buNone/>
              <a:tabLst/>
              <a:defRPr/>
            </a:pPr>
            <a:r>
              <a:rPr kumimoji="0" lang="en-IN" sz="4400" b="1" i="0" u="sng" strike="noStrike" kern="1200" cap="none" spc="0" normalizeH="0" baseline="0" noProof="0" dirty="0" smtClean="0">
                <a:ln>
                  <a:noFill/>
                </a:ln>
                <a:solidFill>
                  <a:schemeClr val="tx1"/>
                </a:solidFill>
                <a:effectLst/>
                <a:uLnTx/>
                <a:uFillTx/>
                <a:latin typeface="Constantia" pitchFamily="18" charset="0"/>
                <a:ea typeface="+mj-ea"/>
                <a:cs typeface="+mj-cs"/>
              </a:rPr>
              <a:t>SWOT Analysis</a:t>
            </a:r>
            <a:endParaRPr kumimoji="0" lang="en-US" sz="4400" b="1" i="0" u="sng" strike="noStrike" kern="1200" cap="none" spc="0" normalizeH="0" baseline="0" noProof="0" dirty="0" smtClean="0">
              <a:ln>
                <a:noFill/>
              </a:ln>
              <a:solidFill>
                <a:schemeClr val="tx1"/>
              </a:solidFill>
              <a:effectLst/>
              <a:uLnTx/>
              <a:uFillTx/>
              <a:latin typeface="Constantia" pitchFamily="18" charset="0"/>
              <a:ea typeface="+mj-ea"/>
              <a:cs typeface="+mj-cs"/>
            </a:endParaRPr>
          </a:p>
        </p:txBody>
      </p:sp>
      <p:sp>
        <p:nvSpPr>
          <p:cNvPr id="3" name="Content Placeholder 3"/>
          <p:cNvSpPr txBox="1">
            <a:spLocks/>
          </p:cNvSpPr>
          <p:nvPr/>
        </p:nvSpPr>
        <p:spPr>
          <a:xfrm>
            <a:off x="571472" y="1600202"/>
            <a:ext cx="8115328" cy="4525963"/>
          </a:xfrm>
          <a:prstGeom prst="rect">
            <a:avLst/>
          </a:prstGeom>
        </p:spPr>
        <p:txBody>
          <a:bodyPr>
            <a:normAutofit lnSpcReduction="10000"/>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IN" sz="2400" b="1" i="0" u="none" strike="noStrike" kern="1200" cap="none" spc="0" normalizeH="0" baseline="0" noProof="0" dirty="0" smtClean="0">
                <a:ln>
                  <a:noFill/>
                </a:ln>
                <a:solidFill>
                  <a:schemeClr val="tx1"/>
                </a:solidFill>
                <a:effectLst/>
                <a:uLnTx/>
                <a:uFillTx/>
                <a:latin typeface="+mj-lt"/>
                <a:ea typeface="+mn-ea"/>
                <a:cs typeface="+mn-cs"/>
              </a:rPr>
              <a:t>Strengths</a:t>
            </a:r>
            <a:r>
              <a:rPr kumimoji="0" lang="en-IN" sz="3200" b="1" i="0" u="none" strike="noStrike" kern="1200" cap="none" spc="0" normalizeH="0" baseline="0" noProof="0" dirty="0" smtClean="0">
                <a:ln>
                  <a:noFill/>
                </a:ln>
                <a:solidFill>
                  <a:schemeClr val="tx1"/>
                </a:solidFill>
                <a:effectLst/>
                <a:uLnTx/>
                <a:uFillTx/>
                <a:latin typeface="+mj-lt"/>
                <a:ea typeface="+mn-ea"/>
                <a:cs typeface="+mn-cs"/>
              </a:rPr>
              <a:t>:</a:t>
            </a:r>
          </a:p>
          <a:p>
            <a:pPr marL="342900" lvl="0" indent="-342900">
              <a:spcBef>
                <a:spcPct val="20000"/>
              </a:spcBef>
              <a:buFont typeface="Arial" pitchFamily="34" charset="0"/>
              <a:buChar char="•"/>
            </a:pPr>
            <a:r>
              <a:rPr lang="en-US" sz="2000" dirty="0" smtClean="0"/>
              <a:t>Global distribution networks boost output and market share.</a:t>
            </a:r>
            <a:endParaRPr lang="en-US" sz="2000" dirty="0"/>
          </a:p>
          <a:p>
            <a:pPr marL="342900" lvl="0" indent="-342900">
              <a:spcBef>
                <a:spcPct val="20000"/>
              </a:spcBef>
              <a:buFont typeface="Arial" pitchFamily="34" charset="0"/>
              <a:buChar char="•"/>
            </a:pPr>
            <a:r>
              <a:rPr lang="en-US" sz="2000" dirty="0" smtClean="0"/>
              <a:t>Advanced manufacturing helps beverage companies scale.</a:t>
            </a:r>
            <a:endParaRPr lang="en-US" sz="2000" dirty="0"/>
          </a:p>
          <a:p>
            <a:pPr marL="342900" lvl="0" indent="-342900">
              <a:spcBef>
                <a:spcPct val="20000"/>
              </a:spcBef>
              <a:buFont typeface="Arial" pitchFamily="34" charset="0"/>
              <a:buChar char="•"/>
            </a:pPr>
            <a:r>
              <a:rPr lang="en-US" sz="2000" dirty="0" smtClean="0"/>
              <a:t>Indian soft drink sales are rising due to improved cold-chain logistics and e-commerce.</a:t>
            </a:r>
          </a:p>
          <a:p>
            <a:pPr marL="342900" lvl="0" indent="-342900">
              <a:spcBef>
                <a:spcPct val="20000"/>
              </a:spcBef>
            </a:pPr>
            <a:endParaRPr lang="en-US" sz="2000" dirty="0" smtClean="0"/>
          </a:p>
          <a:p>
            <a:pPr marL="342900" lvl="0" indent="-342900">
              <a:spcBef>
                <a:spcPct val="20000"/>
              </a:spcBef>
            </a:pPr>
            <a:r>
              <a:rPr kumimoji="0" lang="en-IN" sz="2400" b="1" i="0" u="none" strike="noStrike" kern="1200" cap="none" spc="0" normalizeH="0" baseline="0" noProof="0" dirty="0" smtClean="0">
                <a:ln>
                  <a:noFill/>
                </a:ln>
                <a:solidFill>
                  <a:schemeClr val="tx1"/>
                </a:solidFill>
                <a:effectLst/>
                <a:uLnTx/>
                <a:uFillTx/>
                <a:latin typeface="+mj-lt"/>
                <a:ea typeface="+mn-ea"/>
                <a:cs typeface="+mn-cs"/>
              </a:rPr>
              <a:t>Weaknesses:</a:t>
            </a:r>
          </a:p>
          <a:p>
            <a:pPr marL="342900" lvl="0" indent="-342900">
              <a:spcBef>
                <a:spcPct val="20000"/>
              </a:spcBef>
              <a:buFont typeface="Arial" pitchFamily="34" charset="0"/>
              <a:buChar char="•"/>
            </a:pPr>
            <a:r>
              <a:rPr lang="en-US" sz="2000" dirty="0" smtClean="0"/>
              <a:t>Plastic consumption and waste management are </a:t>
            </a:r>
            <a:r>
              <a:rPr lang="en-US" sz="2000" dirty="0" err="1" smtClean="0"/>
              <a:t>criticised</a:t>
            </a:r>
            <a:r>
              <a:rPr lang="en-US" sz="2000" dirty="0" smtClean="0"/>
              <a:t> in the beverage business.</a:t>
            </a:r>
            <a:endParaRPr lang="en-US" sz="2000" dirty="0"/>
          </a:p>
          <a:p>
            <a:pPr marL="342900" lvl="0" indent="-342900">
              <a:spcBef>
                <a:spcPct val="20000"/>
              </a:spcBef>
              <a:buFont typeface="Arial" pitchFamily="34" charset="0"/>
              <a:buChar char="•"/>
            </a:pPr>
            <a:r>
              <a:rPr lang="en-US" sz="2000" dirty="0" smtClean="0"/>
              <a:t>Growing environmental concerns drive corporations to use sustainable packaging.</a:t>
            </a:r>
            <a:endParaRPr lang="en-US" sz="2000" dirty="0"/>
          </a:p>
          <a:p>
            <a:pPr marL="342900" lvl="0" indent="-342900">
              <a:spcBef>
                <a:spcPct val="20000"/>
              </a:spcBef>
              <a:buFont typeface="Arial" pitchFamily="34" charset="0"/>
              <a:buChar char="•"/>
            </a:pPr>
            <a:r>
              <a:rPr lang="en-US" sz="2000" dirty="0" smtClean="0"/>
              <a:t>Aspartame's “possibly carcinogenic” warning has raised concerns about soft drink artificial sweeteners.</a:t>
            </a:r>
            <a:endParaRPr kumimoji="0" lang="en-US" sz="2000" b="1"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p:cNvSpPr txBox="1">
            <a:spLocks/>
          </p:cNvSpPr>
          <p:nvPr/>
        </p:nvSpPr>
        <p:spPr>
          <a:xfrm>
            <a:off x="500034" y="1142984"/>
            <a:ext cx="8115328" cy="4525963"/>
          </a:xfrm>
          <a:prstGeom prst="rect">
            <a:avLst/>
          </a:prstGeom>
        </p:spPr>
        <p:txBody>
          <a:bodyPr>
            <a:normAutofit fontScale="92500" lnSpcReduction="10000"/>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IN" sz="2400" b="1" dirty="0" smtClean="0">
                <a:latin typeface="+mj-lt"/>
              </a:rPr>
              <a:t>Opportunities</a:t>
            </a:r>
            <a:r>
              <a:rPr kumimoji="0" lang="en-IN" sz="3200" b="1" i="0" u="none" strike="noStrike" kern="1200" cap="none" spc="0" normalizeH="0" baseline="0" noProof="0" dirty="0" smtClean="0">
                <a:ln>
                  <a:noFill/>
                </a:ln>
                <a:solidFill>
                  <a:schemeClr val="tx1"/>
                </a:solidFill>
                <a:effectLst/>
                <a:uLnTx/>
                <a:uFillTx/>
                <a:latin typeface="+mj-lt"/>
                <a:ea typeface="+mn-ea"/>
                <a:cs typeface="+mn-cs"/>
              </a:rPr>
              <a:t>:</a:t>
            </a:r>
          </a:p>
          <a:p>
            <a:pPr marL="342900" lvl="0" indent="-342900">
              <a:spcBef>
                <a:spcPct val="20000"/>
              </a:spcBef>
              <a:buFont typeface="Arial" pitchFamily="34" charset="0"/>
              <a:buChar char="•"/>
            </a:pPr>
            <a:r>
              <a:rPr lang="en-US" sz="2000" dirty="0" smtClean="0"/>
              <a:t>The food and beverage industry is using AI and modern technologies to boost efficiency and quality.</a:t>
            </a:r>
            <a:endParaRPr lang="en-US" sz="2000" dirty="0"/>
          </a:p>
          <a:p>
            <a:pPr marL="342900" lvl="0" indent="-342900">
              <a:spcBef>
                <a:spcPct val="20000"/>
              </a:spcBef>
              <a:buFont typeface="Arial" pitchFamily="34" charset="0"/>
              <a:buChar char="•"/>
            </a:pPr>
            <a:r>
              <a:rPr lang="en-US" sz="2000" dirty="0" smtClean="0"/>
              <a:t>Global market growth is possible due to rising earnings and changing tastes.</a:t>
            </a:r>
            <a:endParaRPr lang="en-US" sz="2000" dirty="0"/>
          </a:p>
          <a:p>
            <a:pPr marL="342900" lvl="0" indent="-342900">
              <a:spcBef>
                <a:spcPct val="20000"/>
              </a:spcBef>
              <a:buFont typeface="Arial" pitchFamily="34" charset="0"/>
              <a:buChar char="•"/>
            </a:pPr>
            <a:r>
              <a:rPr lang="en-US" sz="2000" dirty="0" smtClean="0"/>
              <a:t>Rising economies in South America, Africa, and Asia boost industry longevity.</a:t>
            </a:r>
          </a:p>
          <a:p>
            <a:pPr marL="342900" lvl="0" indent="-342900">
              <a:spcBef>
                <a:spcPct val="20000"/>
              </a:spcBef>
            </a:pPr>
            <a:endParaRPr lang="en-US" sz="2000" dirty="0" smtClean="0"/>
          </a:p>
          <a:p>
            <a:pPr marL="342900" lvl="0" indent="-342900">
              <a:spcBef>
                <a:spcPct val="20000"/>
              </a:spcBef>
            </a:pPr>
            <a:r>
              <a:rPr kumimoji="0" lang="en-IN" sz="2400" b="1" i="0" u="none" strike="noStrike" kern="1200" cap="none" spc="0" normalizeH="0" baseline="0" noProof="0" dirty="0" smtClean="0">
                <a:ln>
                  <a:noFill/>
                </a:ln>
                <a:solidFill>
                  <a:schemeClr val="tx1"/>
                </a:solidFill>
                <a:effectLst/>
                <a:uLnTx/>
                <a:uFillTx/>
                <a:latin typeface="+mj-lt"/>
                <a:ea typeface="+mn-ea"/>
                <a:cs typeface="+mn-cs"/>
              </a:rPr>
              <a:t>Threats:</a:t>
            </a:r>
          </a:p>
          <a:p>
            <a:pPr marL="342900" lvl="0" indent="-342900">
              <a:spcBef>
                <a:spcPct val="20000"/>
              </a:spcBef>
              <a:buFont typeface="Arial" pitchFamily="34" charset="0"/>
              <a:buChar char="•"/>
            </a:pPr>
            <a:r>
              <a:rPr lang="en-US" sz="2000" dirty="0" smtClean="0"/>
              <a:t>The food and beverage industry faces intense competition, projected to reach $4.4 trillion by 2028.</a:t>
            </a:r>
          </a:p>
          <a:p>
            <a:pPr marL="342900" lvl="0" indent="-342900">
              <a:spcBef>
                <a:spcPct val="20000"/>
              </a:spcBef>
              <a:buFont typeface="Arial" pitchFamily="34" charset="0"/>
              <a:buChar char="•"/>
            </a:pPr>
            <a:r>
              <a:rPr lang="en-US" sz="2000" dirty="0" smtClean="0"/>
              <a:t>Ongoing conflicts, such as in Sudan, threaten the supply of key ingredients like gum Arabic.</a:t>
            </a:r>
          </a:p>
          <a:p>
            <a:pPr marL="342900" lvl="0" indent="-342900">
              <a:spcBef>
                <a:spcPct val="20000"/>
              </a:spcBef>
              <a:buFont typeface="Arial" pitchFamily="34" charset="0"/>
              <a:buChar char="•"/>
            </a:pPr>
            <a:r>
              <a:rPr lang="en-US" sz="2000" dirty="0" smtClean="0"/>
              <a:t>Manufacturers are stockpiling raw materials to manage geopolitical supply risks.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285728"/>
            <a:ext cx="2786082" cy="461665"/>
          </a:xfrm>
          <a:prstGeom prst="rect">
            <a:avLst/>
          </a:prstGeom>
          <a:noFill/>
        </p:spPr>
        <p:txBody>
          <a:bodyPr wrap="square" rtlCol="0">
            <a:spAutoFit/>
          </a:bodyPr>
          <a:lstStyle/>
          <a:p>
            <a:r>
              <a:rPr lang="en-IN" sz="2400" b="1" u="sng" dirty="0" smtClean="0">
                <a:latin typeface="+mj-lt"/>
              </a:rPr>
              <a:t>Profitability Ratios:</a:t>
            </a:r>
            <a:endParaRPr lang="en-US" sz="2400" b="1" u="sng" dirty="0">
              <a:latin typeface="+mj-lt"/>
            </a:endParaRPr>
          </a:p>
        </p:txBody>
      </p:sp>
      <p:graphicFrame>
        <p:nvGraphicFramePr>
          <p:cNvPr id="5" name="Chart 4"/>
          <p:cNvGraphicFramePr/>
          <p:nvPr/>
        </p:nvGraphicFramePr>
        <p:xfrm>
          <a:off x="285720" y="1000108"/>
          <a:ext cx="4352925"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6"/>
          <p:cNvGraphicFramePr/>
          <p:nvPr/>
        </p:nvGraphicFramePr>
        <p:xfrm>
          <a:off x="357158" y="3786190"/>
          <a:ext cx="4381500" cy="2800351"/>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Box 7"/>
          <p:cNvSpPr txBox="1"/>
          <p:nvPr/>
        </p:nvSpPr>
        <p:spPr>
          <a:xfrm>
            <a:off x="4572000" y="785794"/>
            <a:ext cx="4572000" cy="954107"/>
          </a:xfrm>
          <a:prstGeom prst="rect">
            <a:avLst/>
          </a:prstGeom>
          <a:noFill/>
        </p:spPr>
        <p:txBody>
          <a:bodyPr wrap="square" rtlCol="0">
            <a:spAutoFit/>
          </a:bodyPr>
          <a:lstStyle/>
          <a:p>
            <a:r>
              <a:rPr lang="en-US" sz="1400" dirty="0" smtClean="0"/>
              <a:t>Coca-Cola’s gross profit fell 4% in 2022 due to the Russia exit and higher input costs. It rose 2.37% in 2023 with 3% global sales growth and pricing gains. In 2024 it was 61.06, due to higher prices and efficiency from its asset-light model.</a:t>
            </a:r>
            <a:endParaRPr lang="en-US" sz="1400" dirty="0"/>
          </a:p>
        </p:txBody>
      </p:sp>
      <p:sp>
        <p:nvSpPr>
          <p:cNvPr id="9" name="TextBox 8"/>
          <p:cNvSpPr txBox="1"/>
          <p:nvPr/>
        </p:nvSpPr>
        <p:spPr>
          <a:xfrm>
            <a:off x="4643438" y="3857628"/>
            <a:ext cx="4500562" cy="1169551"/>
          </a:xfrm>
          <a:prstGeom prst="rect">
            <a:avLst/>
          </a:prstGeom>
          <a:noFill/>
        </p:spPr>
        <p:txBody>
          <a:bodyPr wrap="square" rtlCol="0">
            <a:spAutoFit/>
          </a:bodyPr>
          <a:lstStyle/>
          <a:p>
            <a:r>
              <a:rPr lang="en-US" sz="1400" dirty="0" smtClean="0"/>
              <a:t>Coca-Cola’s operating margin fell 5% in FY2022, due to inflation and market disruptions. Higher pricing and expenditure boosted it decreased 2.</a:t>
            </a:r>
          </a:p>
          <a:p>
            <a:r>
              <a:rPr lang="en-US" sz="1400" dirty="0" smtClean="0"/>
              <a:t>55% in FY2023. decreased further 14% in FY2024, even though their was increase in revenue.</a:t>
            </a:r>
            <a:endParaRPr lang="en-US" sz="1400" dirty="0"/>
          </a:p>
        </p:txBody>
      </p:sp>
      <p:sp>
        <p:nvSpPr>
          <p:cNvPr id="10" name="TextBox 9"/>
          <p:cNvSpPr txBox="1"/>
          <p:nvPr/>
        </p:nvSpPr>
        <p:spPr>
          <a:xfrm>
            <a:off x="4572000" y="5214950"/>
            <a:ext cx="4572000" cy="738664"/>
          </a:xfrm>
          <a:prstGeom prst="rect">
            <a:avLst/>
          </a:prstGeom>
          <a:noFill/>
        </p:spPr>
        <p:txBody>
          <a:bodyPr wrap="square" rtlCol="0">
            <a:spAutoFit/>
          </a:bodyPr>
          <a:lstStyle/>
          <a:p>
            <a:r>
              <a:rPr lang="en-US" sz="1400" dirty="0" smtClean="0"/>
              <a:t>Operating margin of PepsiCo decreased by 5% for FY2022, decreased by 2% for FY2023, and for FY2024 rose by 7%.</a:t>
            </a:r>
            <a:endParaRPr lang="en-US" sz="1400" dirty="0"/>
          </a:p>
        </p:txBody>
      </p:sp>
      <p:sp>
        <p:nvSpPr>
          <p:cNvPr id="11" name="TextBox 10"/>
          <p:cNvSpPr txBox="1"/>
          <p:nvPr/>
        </p:nvSpPr>
        <p:spPr>
          <a:xfrm>
            <a:off x="4572000" y="2071678"/>
            <a:ext cx="4572000" cy="954107"/>
          </a:xfrm>
          <a:prstGeom prst="rect">
            <a:avLst/>
          </a:prstGeom>
          <a:noFill/>
        </p:spPr>
        <p:txBody>
          <a:bodyPr wrap="square" rtlCol="0">
            <a:spAutoFit/>
          </a:bodyPr>
          <a:lstStyle/>
          <a:p>
            <a:r>
              <a:rPr lang="en-US" sz="1400" dirty="0" smtClean="0"/>
              <a:t>GP margin of PepsiCo decreased by 1% for FY2022, increased by 2% for FY2023, and for FY2024 rose further by 1%, reflecting improved cost efficiency and strong pricing performance.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p:cNvGraphicFramePr/>
          <p:nvPr/>
        </p:nvGraphicFramePr>
        <p:xfrm>
          <a:off x="285720" y="285728"/>
          <a:ext cx="4371975" cy="300037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Chart 3"/>
          <p:cNvGraphicFramePr/>
          <p:nvPr/>
        </p:nvGraphicFramePr>
        <p:xfrm>
          <a:off x="357158" y="3571876"/>
          <a:ext cx="417195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Box 4"/>
          <p:cNvSpPr txBox="1"/>
          <p:nvPr/>
        </p:nvSpPr>
        <p:spPr>
          <a:xfrm>
            <a:off x="4572000" y="357166"/>
            <a:ext cx="4572000" cy="1214446"/>
          </a:xfrm>
          <a:prstGeom prst="rect">
            <a:avLst/>
          </a:prstGeom>
          <a:noFill/>
        </p:spPr>
        <p:txBody>
          <a:bodyPr wrap="square" rtlCol="0">
            <a:spAutoFit/>
          </a:bodyPr>
          <a:lstStyle/>
          <a:p>
            <a:r>
              <a:rPr lang="en-US" sz="1400" dirty="0" smtClean="0"/>
              <a:t>Coca-Cola’s ROCE was 14.94% in 2022, above industry average, indicating great financial success. It rose to 15.26% in 2023 due to improved profitability and zero-sugar product demand. It fell by 13%in 2024 because to inflation and growing expenses.</a:t>
            </a:r>
            <a:endParaRPr lang="en-US" sz="1400" dirty="0"/>
          </a:p>
        </p:txBody>
      </p:sp>
      <p:sp>
        <p:nvSpPr>
          <p:cNvPr id="6" name="TextBox 5"/>
          <p:cNvSpPr txBox="1"/>
          <p:nvPr/>
        </p:nvSpPr>
        <p:spPr>
          <a:xfrm>
            <a:off x="4500562" y="1785926"/>
            <a:ext cx="4643438" cy="738664"/>
          </a:xfrm>
          <a:prstGeom prst="rect">
            <a:avLst/>
          </a:prstGeom>
          <a:noFill/>
        </p:spPr>
        <p:txBody>
          <a:bodyPr wrap="square" rtlCol="0">
            <a:spAutoFit/>
          </a:bodyPr>
          <a:lstStyle/>
          <a:p>
            <a:r>
              <a:rPr lang="en-US" sz="1400" dirty="0" smtClean="0"/>
              <a:t>PepsiCo’s ROCE increased by 4% in 2022, decreased by 1% in 2023, and then rose by 9% in 2024</a:t>
            </a:r>
            <a:r>
              <a:rPr lang="en-US" sz="1400" dirty="0"/>
              <a:t> </a:t>
            </a:r>
            <a:r>
              <a:rPr lang="en-US" sz="1400" dirty="0" smtClean="0"/>
              <a:t>supported by effective capital management, pricing, and worldwide expansion.</a:t>
            </a:r>
            <a:endParaRPr lang="en-US" sz="1400" dirty="0"/>
          </a:p>
        </p:txBody>
      </p:sp>
      <p:sp>
        <p:nvSpPr>
          <p:cNvPr id="7" name="TextBox 6"/>
          <p:cNvSpPr txBox="1"/>
          <p:nvPr/>
        </p:nvSpPr>
        <p:spPr>
          <a:xfrm>
            <a:off x="4500562" y="3571877"/>
            <a:ext cx="4643438" cy="1384995"/>
          </a:xfrm>
          <a:prstGeom prst="rect">
            <a:avLst/>
          </a:prstGeom>
          <a:noFill/>
        </p:spPr>
        <p:txBody>
          <a:bodyPr wrap="square" rtlCol="0">
            <a:spAutoFit/>
          </a:bodyPr>
          <a:lstStyle/>
          <a:p>
            <a:r>
              <a:rPr lang="en-US" sz="1400" dirty="0" smtClean="0"/>
              <a:t>Coca-Cola’s ROE was 37.06% in 2022, above the 15% industry average, indicating significant profitability. It rose by 5.1% in 2023 because to rising income and expansion in developing economies like India and Brazil. Strong operating efficiency and better major market profitability boosted ROE by 4% in 2024.</a:t>
            </a:r>
          </a:p>
        </p:txBody>
      </p:sp>
      <p:sp>
        <p:nvSpPr>
          <p:cNvPr id="8" name="TextBox 7"/>
          <p:cNvSpPr txBox="1"/>
          <p:nvPr/>
        </p:nvSpPr>
        <p:spPr>
          <a:xfrm>
            <a:off x="4572000" y="5286388"/>
            <a:ext cx="4572000" cy="954107"/>
          </a:xfrm>
          <a:prstGeom prst="rect">
            <a:avLst/>
          </a:prstGeom>
          <a:noFill/>
        </p:spPr>
        <p:txBody>
          <a:bodyPr wrap="square" rtlCol="0">
            <a:spAutoFit/>
          </a:bodyPr>
          <a:lstStyle/>
          <a:p>
            <a:r>
              <a:rPr lang="en-US" sz="1400" dirty="0" smtClean="0"/>
              <a:t>PepsiCo’s ROE increased by 9% in 2022, decreased by 5% in 2023, and rose by 8% in 2024, supported by increased retained profits and robust snack and beverage diversity enhance profitability.</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3071810"/>
            <a:ext cx="2786082" cy="461665"/>
          </a:xfrm>
          <a:prstGeom prst="rect">
            <a:avLst/>
          </a:prstGeom>
          <a:noFill/>
        </p:spPr>
        <p:txBody>
          <a:bodyPr wrap="square" rtlCol="0">
            <a:spAutoFit/>
          </a:bodyPr>
          <a:lstStyle/>
          <a:p>
            <a:r>
              <a:rPr lang="en-IN" sz="2400" b="1" u="sng" dirty="0" smtClean="0">
                <a:latin typeface="+mj-lt"/>
              </a:rPr>
              <a:t>Investors Ratios:</a:t>
            </a:r>
            <a:endParaRPr lang="en-US" sz="2400" b="1" u="sng" dirty="0">
              <a:latin typeface="+mj-lt"/>
            </a:endParaRPr>
          </a:p>
        </p:txBody>
      </p:sp>
      <p:graphicFrame>
        <p:nvGraphicFramePr>
          <p:cNvPr id="24" name="Chart 23"/>
          <p:cNvGraphicFramePr/>
          <p:nvPr/>
        </p:nvGraphicFramePr>
        <p:xfrm>
          <a:off x="500034" y="3643314"/>
          <a:ext cx="4381500" cy="2743200"/>
        </p:xfrm>
        <a:graphic>
          <a:graphicData uri="http://schemas.openxmlformats.org/drawingml/2006/chart">
            <c:chart xmlns:c="http://schemas.openxmlformats.org/drawingml/2006/chart" xmlns:r="http://schemas.openxmlformats.org/officeDocument/2006/relationships" r:id="rId2"/>
          </a:graphicData>
        </a:graphic>
      </p:graphicFrame>
      <p:sp>
        <p:nvSpPr>
          <p:cNvPr id="25" name="TextBox 24"/>
          <p:cNvSpPr txBox="1"/>
          <p:nvPr/>
        </p:nvSpPr>
        <p:spPr>
          <a:xfrm>
            <a:off x="4572000" y="285729"/>
            <a:ext cx="4572000" cy="1384995"/>
          </a:xfrm>
          <a:prstGeom prst="rect">
            <a:avLst/>
          </a:prstGeom>
          <a:noFill/>
        </p:spPr>
        <p:txBody>
          <a:bodyPr wrap="square" rtlCol="0">
            <a:spAutoFit/>
          </a:bodyPr>
          <a:lstStyle/>
          <a:p>
            <a:r>
              <a:rPr lang="en-US" sz="1400" dirty="0" smtClean="0"/>
              <a:t>Coca-Cola’s asset turnover rose to 13% in 2022, showing better fixed asset usage and operational effectiveness. Due to organic sales growth and non-current asset </a:t>
            </a:r>
            <a:r>
              <a:rPr lang="en-US" sz="1400" dirty="0" err="1" smtClean="0"/>
              <a:t>utilisation</a:t>
            </a:r>
            <a:r>
              <a:rPr lang="en-US" sz="1400" dirty="0" smtClean="0"/>
              <a:t>, the ratio rose 4% in 2023. The ratio stood at 0.62 in 2024 owing to inflation and increased operating expenditures.</a:t>
            </a:r>
            <a:endParaRPr lang="en-US" sz="1400" dirty="0"/>
          </a:p>
        </p:txBody>
      </p:sp>
      <p:sp>
        <p:nvSpPr>
          <p:cNvPr id="26" name="TextBox 25"/>
          <p:cNvSpPr txBox="1"/>
          <p:nvPr/>
        </p:nvSpPr>
        <p:spPr>
          <a:xfrm>
            <a:off x="4643438" y="3500438"/>
            <a:ext cx="4500562" cy="1169551"/>
          </a:xfrm>
          <a:prstGeom prst="rect">
            <a:avLst/>
          </a:prstGeom>
          <a:noFill/>
        </p:spPr>
        <p:txBody>
          <a:bodyPr wrap="square" rtlCol="0">
            <a:spAutoFit/>
          </a:bodyPr>
          <a:lstStyle/>
          <a:p>
            <a:r>
              <a:rPr lang="en-US" sz="1400" dirty="0" smtClean="0"/>
              <a:t>Coca-Cola’s EPS fell by 3% in 2022 owing to decreasing income, plastic pollution backlash, and currency changes. It increased 12.11% in 2023 due to AI-driven marketing and customer interaction. Profit growth was flat in 2024 due to rising input prices and currency rate volatility.</a:t>
            </a:r>
            <a:endParaRPr lang="en-US" sz="1400" dirty="0"/>
          </a:p>
        </p:txBody>
      </p:sp>
      <p:sp>
        <p:nvSpPr>
          <p:cNvPr id="27" name="TextBox 26"/>
          <p:cNvSpPr txBox="1"/>
          <p:nvPr/>
        </p:nvSpPr>
        <p:spPr>
          <a:xfrm>
            <a:off x="4643438" y="1928802"/>
            <a:ext cx="4500562" cy="954107"/>
          </a:xfrm>
          <a:prstGeom prst="rect">
            <a:avLst/>
          </a:prstGeom>
          <a:noFill/>
        </p:spPr>
        <p:txBody>
          <a:bodyPr wrap="square" rtlCol="0">
            <a:spAutoFit/>
          </a:bodyPr>
          <a:lstStyle/>
          <a:p>
            <a:r>
              <a:rPr lang="en-US" sz="1400" dirty="0" smtClean="0"/>
              <a:t>PepsiCo’s asset turnover increased by 10% in 2022, increased by 1% in 2023, and rose by 2% in 2024 reflecting increased production efficiency and varied product sales</a:t>
            </a:r>
            <a:endParaRPr lang="en-US" sz="1400" dirty="0"/>
          </a:p>
        </p:txBody>
      </p:sp>
      <p:sp>
        <p:nvSpPr>
          <p:cNvPr id="28" name="TextBox 27"/>
          <p:cNvSpPr txBox="1"/>
          <p:nvPr/>
        </p:nvSpPr>
        <p:spPr>
          <a:xfrm>
            <a:off x="4643438" y="5000636"/>
            <a:ext cx="4500562" cy="954107"/>
          </a:xfrm>
          <a:prstGeom prst="rect">
            <a:avLst/>
          </a:prstGeom>
          <a:noFill/>
        </p:spPr>
        <p:txBody>
          <a:bodyPr wrap="square" rtlCol="0">
            <a:spAutoFit/>
          </a:bodyPr>
          <a:lstStyle/>
          <a:p>
            <a:r>
              <a:rPr lang="en-US" sz="1400" dirty="0" smtClean="0"/>
              <a:t>PepsiCo’s EPS increased by 17% in 2022, rose by 2% in 2023, and increased by 6% in 2024, supported by substantial global demand, diverse income sources, and double-digit food and beverage growth in India.</a:t>
            </a:r>
            <a:endParaRPr lang="en-US" sz="1400" dirty="0"/>
          </a:p>
        </p:txBody>
      </p:sp>
      <p:graphicFrame>
        <p:nvGraphicFramePr>
          <p:cNvPr id="29" name="Chart 28"/>
          <p:cNvGraphicFramePr/>
          <p:nvPr/>
        </p:nvGraphicFramePr>
        <p:xfrm>
          <a:off x="357158" y="285728"/>
          <a:ext cx="4071966" cy="2714644"/>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7158" y="285728"/>
            <a:ext cx="2786082" cy="461665"/>
          </a:xfrm>
          <a:prstGeom prst="rect">
            <a:avLst/>
          </a:prstGeom>
          <a:noFill/>
        </p:spPr>
        <p:txBody>
          <a:bodyPr wrap="square" rtlCol="0">
            <a:spAutoFit/>
          </a:bodyPr>
          <a:lstStyle/>
          <a:p>
            <a:r>
              <a:rPr lang="en-IN" sz="2400" b="1" u="sng" dirty="0" smtClean="0">
                <a:latin typeface="+mj-lt"/>
              </a:rPr>
              <a:t>Liquidity Ratios:</a:t>
            </a:r>
            <a:endParaRPr lang="en-US" sz="2400" b="1" u="sng" dirty="0">
              <a:latin typeface="+mj-lt"/>
            </a:endParaRPr>
          </a:p>
        </p:txBody>
      </p:sp>
      <p:graphicFrame>
        <p:nvGraphicFramePr>
          <p:cNvPr id="3" name="Chart 2"/>
          <p:cNvGraphicFramePr/>
          <p:nvPr/>
        </p:nvGraphicFramePr>
        <p:xfrm>
          <a:off x="357158" y="1000108"/>
          <a:ext cx="4357718" cy="235745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p:cNvGraphicFramePr/>
          <p:nvPr/>
        </p:nvGraphicFramePr>
        <p:xfrm>
          <a:off x="642910" y="3571876"/>
          <a:ext cx="3895725"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p:cNvSpPr txBox="1"/>
          <p:nvPr/>
        </p:nvSpPr>
        <p:spPr>
          <a:xfrm>
            <a:off x="4500562" y="357166"/>
            <a:ext cx="4643438" cy="1384995"/>
          </a:xfrm>
          <a:prstGeom prst="rect">
            <a:avLst/>
          </a:prstGeom>
          <a:noFill/>
        </p:spPr>
        <p:txBody>
          <a:bodyPr wrap="square" rtlCol="0">
            <a:spAutoFit/>
          </a:bodyPr>
          <a:lstStyle/>
          <a:p>
            <a:r>
              <a:rPr lang="en-US" sz="1400" dirty="0" smtClean="0"/>
              <a:t>Coca-Cola's current ratio improved marginally by 1% in 2022 after starting a supply chain financing program and selling USD 610 million in receivables. After increased dividends, borrowings, and FX losses, it decreased by 0.98% in 2023 and rapidly plummeted by 9% in 2024 as net working capital fell by USD 6.23 billion.</a:t>
            </a:r>
            <a:endParaRPr lang="en-US" sz="1400" dirty="0"/>
          </a:p>
        </p:txBody>
      </p:sp>
      <p:sp>
        <p:nvSpPr>
          <p:cNvPr id="7" name="TextBox 6"/>
          <p:cNvSpPr txBox="1"/>
          <p:nvPr/>
        </p:nvSpPr>
        <p:spPr>
          <a:xfrm>
            <a:off x="4572000" y="3429000"/>
            <a:ext cx="4572000" cy="1169551"/>
          </a:xfrm>
          <a:prstGeom prst="rect">
            <a:avLst/>
          </a:prstGeom>
          <a:noFill/>
        </p:spPr>
        <p:txBody>
          <a:bodyPr wrap="square" rtlCol="0">
            <a:spAutoFit/>
          </a:bodyPr>
          <a:lstStyle/>
          <a:p>
            <a:r>
              <a:rPr lang="en-US" sz="1400" dirty="0" smtClean="0"/>
              <a:t>Due to inflation and rising material prices, Coca-Cola's quick ratio dropped to 0.93 in 2022. It reached 0.95 in 2023 with increased revenue and cash flow, but dropped 11% in 2024 as operational cash decreased by 41% and new debt elevated short-term obligations, limiting liquidity.</a:t>
            </a:r>
            <a:endParaRPr lang="en-US" sz="1400" dirty="0"/>
          </a:p>
        </p:txBody>
      </p:sp>
      <p:sp>
        <p:nvSpPr>
          <p:cNvPr id="8" name="TextBox 7"/>
          <p:cNvSpPr txBox="1"/>
          <p:nvPr/>
        </p:nvSpPr>
        <p:spPr>
          <a:xfrm>
            <a:off x="4857720" y="1857364"/>
            <a:ext cx="4286280" cy="954107"/>
          </a:xfrm>
          <a:prstGeom prst="rect">
            <a:avLst/>
          </a:prstGeom>
          <a:noFill/>
        </p:spPr>
        <p:txBody>
          <a:bodyPr wrap="square" rtlCol="0">
            <a:spAutoFit/>
          </a:bodyPr>
          <a:lstStyle/>
          <a:p>
            <a:r>
              <a:rPr lang="en-US" sz="1400" dirty="0" smtClean="0"/>
              <a:t>PepsiCo's current ratio was 0.8 in 2022, rose up slightly to 0.85 in 2023, and then went down to 0.82 in 2024 because of greater short-term debt and marketing expenses.</a:t>
            </a:r>
            <a:endParaRPr lang="en-US" sz="1400" dirty="0"/>
          </a:p>
        </p:txBody>
      </p:sp>
      <p:sp>
        <p:nvSpPr>
          <p:cNvPr id="9" name="TextBox 8"/>
          <p:cNvSpPr txBox="1"/>
          <p:nvPr/>
        </p:nvSpPr>
        <p:spPr>
          <a:xfrm>
            <a:off x="4643438" y="4786322"/>
            <a:ext cx="4500562" cy="954107"/>
          </a:xfrm>
          <a:prstGeom prst="rect">
            <a:avLst/>
          </a:prstGeom>
          <a:noFill/>
        </p:spPr>
        <p:txBody>
          <a:bodyPr wrap="square" rtlCol="0">
            <a:spAutoFit/>
          </a:bodyPr>
          <a:lstStyle/>
          <a:p>
            <a:r>
              <a:rPr lang="en-US" sz="1400" dirty="0" smtClean="0"/>
              <a:t>PepsiCo’s quick ratio decreased by 8% in 2022, further increased to 0.68 in 2023, and decreased by 5% in 2024 even with better receivables collection enhanced cash flow and liquidity.</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7158" y="285728"/>
            <a:ext cx="2786082" cy="461665"/>
          </a:xfrm>
          <a:prstGeom prst="rect">
            <a:avLst/>
          </a:prstGeom>
          <a:noFill/>
        </p:spPr>
        <p:txBody>
          <a:bodyPr wrap="square" rtlCol="0">
            <a:spAutoFit/>
          </a:bodyPr>
          <a:lstStyle/>
          <a:p>
            <a:r>
              <a:rPr lang="en-IN" sz="2400" b="1" u="sng" dirty="0" smtClean="0">
                <a:latin typeface="+mj-lt"/>
              </a:rPr>
              <a:t>Solvency Ratios:</a:t>
            </a:r>
            <a:endParaRPr lang="en-US" sz="2400" b="1" u="sng" dirty="0">
              <a:latin typeface="+mj-lt"/>
            </a:endParaRPr>
          </a:p>
        </p:txBody>
      </p:sp>
      <p:graphicFrame>
        <p:nvGraphicFramePr>
          <p:cNvPr id="33" name="Chart 32"/>
          <p:cNvGraphicFramePr/>
          <p:nvPr/>
        </p:nvGraphicFramePr>
        <p:xfrm>
          <a:off x="214282" y="857232"/>
          <a:ext cx="4257675"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4" name="Chart 33"/>
          <p:cNvGraphicFramePr/>
          <p:nvPr/>
        </p:nvGraphicFramePr>
        <p:xfrm>
          <a:off x="214282" y="3571876"/>
          <a:ext cx="4152900" cy="2952750"/>
        </p:xfrm>
        <a:graphic>
          <a:graphicData uri="http://schemas.openxmlformats.org/drawingml/2006/chart">
            <c:chart xmlns:c="http://schemas.openxmlformats.org/drawingml/2006/chart" xmlns:r="http://schemas.openxmlformats.org/officeDocument/2006/relationships" r:id="rId3"/>
          </a:graphicData>
        </a:graphic>
      </p:graphicFrame>
      <p:sp>
        <p:nvSpPr>
          <p:cNvPr id="35" name="TextBox 34"/>
          <p:cNvSpPr txBox="1"/>
          <p:nvPr/>
        </p:nvSpPr>
        <p:spPr>
          <a:xfrm>
            <a:off x="4500562" y="500042"/>
            <a:ext cx="4214842" cy="1169551"/>
          </a:xfrm>
          <a:prstGeom prst="rect">
            <a:avLst/>
          </a:prstGeom>
          <a:noFill/>
        </p:spPr>
        <p:txBody>
          <a:bodyPr wrap="square" rtlCol="0">
            <a:spAutoFit/>
          </a:bodyPr>
          <a:lstStyle/>
          <a:p>
            <a:r>
              <a:rPr lang="en-US" sz="1400" dirty="0" smtClean="0"/>
              <a:t>Coca-Cola’s debt-to-equity ratio was 1.55 in 2022, showing debt dependence. but It declined to 1.52 in 2023 due to cautious borrowing and greater retained profits but rebounded to 1.72 in 2024 due to debt issuance and leverage.</a:t>
            </a:r>
            <a:endParaRPr lang="en-US" sz="1400" dirty="0"/>
          </a:p>
        </p:txBody>
      </p:sp>
      <p:sp>
        <p:nvSpPr>
          <p:cNvPr id="36" name="TextBox 35"/>
          <p:cNvSpPr txBox="1"/>
          <p:nvPr/>
        </p:nvSpPr>
        <p:spPr>
          <a:xfrm>
            <a:off x="4572000" y="3429000"/>
            <a:ext cx="4572000" cy="1384995"/>
          </a:xfrm>
          <a:prstGeom prst="rect">
            <a:avLst/>
          </a:prstGeom>
          <a:noFill/>
        </p:spPr>
        <p:txBody>
          <a:bodyPr wrap="square" rtlCol="0">
            <a:spAutoFit/>
          </a:bodyPr>
          <a:lstStyle/>
          <a:p>
            <a:r>
              <a:rPr lang="en-US" sz="1400" dirty="0" smtClean="0"/>
              <a:t>Coca-Cola's interest coverage ratio climbed by 92%in 2022 as cost cuts and increasing volumes increased operating income by 6%. It dropped considerably by 40.11%  in 2023 and increased by 19% in 2024 due to global rate rises, raising borrowing rates on 40% floating debt and increasing commercial paper and refinancing costs.</a:t>
            </a:r>
            <a:endParaRPr lang="en-US" sz="1400" dirty="0"/>
          </a:p>
        </p:txBody>
      </p:sp>
      <p:sp>
        <p:nvSpPr>
          <p:cNvPr id="37" name="TextBox 36"/>
          <p:cNvSpPr txBox="1"/>
          <p:nvPr/>
        </p:nvSpPr>
        <p:spPr>
          <a:xfrm>
            <a:off x="4572000" y="1857364"/>
            <a:ext cx="4286280" cy="954107"/>
          </a:xfrm>
          <a:prstGeom prst="rect">
            <a:avLst/>
          </a:prstGeom>
          <a:noFill/>
        </p:spPr>
        <p:txBody>
          <a:bodyPr wrap="square" rtlCol="0">
            <a:spAutoFit/>
          </a:bodyPr>
          <a:lstStyle/>
          <a:p>
            <a:r>
              <a:rPr lang="en-US" sz="1400" dirty="0" smtClean="0"/>
              <a:t>PepsiCo's debt-to-equity ratio declined by 9% in 2022 but increased by 5% in 2023, and 3% in 2024,Due to increasing long-term borrowings and 90%  higher short-term debt</a:t>
            </a:r>
            <a:endParaRPr lang="en-US" sz="1400" dirty="0"/>
          </a:p>
        </p:txBody>
      </p:sp>
      <p:sp>
        <p:nvSpPr>
          <p:cNvPr id="38" name="TextBox 37"/>
          <p:cNvSpPr txBox="1"/>
          <p:nvPr/>
        </p:nvSpPr>
        <p:spPr>
          <a:xfrm>
            <a:off x="4572000" y="5072074"/>
            <a:ext cx="4572000" cy="738664"/>
          </a:xfrm>
          <a:prstGeom prst="rect">
            <a:avLst/>
          </a:prstGeom>
          <a:noFill/>
        </p:spPr>
        <p:txBody>
          <a:bodyPr wrap="square" rtlCol="0">
            <a:spAutoFit/>
          </a:bodyPr>
          <a:lstStyle/>
          <a:p>
            <a:r>
              <a:rPr lang="en-US" sz="1400" dirty="0" smtClean="0"/>
              <a:t>In 2022, PepsiCo's interest coverage ratio increased by 105%, rose 19% in 2023, then fell 4% in 2024 due to increasing refinancing costs and floating-rate loan interest.</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28596" y="0"/>
            <a:ext cx="8229600" cy="1143000"/>
          </a:xfrm>
          <a:prstGeom prst="rect">
            <a:avLst/>
          </a:prstGeom>
        </p:spPr>
        <p:txBody>
          <a:bodyPr/>
          <a:lstStyle/>
          <a:p>
            <a:pPr marL="0" marR="0" lvl="0" indent="0" algn="ctr" defTabSz="914400" rtl="0" eaLnBrk="1" fontAlgn="auto" latinLnBrk="0" hangingPunct="1">
              <a:lnSpc>
                <a:spcPct val="150000"/>
              </a:lnSpc>
              <a:spcBef>
                <a:spcPct val="0"/>
              </a:spcBef>
              <a:spcAft>
                <a:spcPts val="0"/>
              </a:spcAft>
              <a:buClrTx/>
              <a:buSzTx/>
              <a:buFontTx/>
              <a:buNone/>
              <a:tabLst/>
              <a:defRPr/>
            </a:pPr>
            <a:r>
              <a:rPr kumimoji="0" lang="en-IN" sz="4400" b="1" i="0" u="none" strike="noStrike" kern="1200" cap="none" spc="0" normalizeH="0" baseline="0" noProof="0" dirty="0" smtClean="0">
                <a:ln>
                  <a:noFill/>
                </a:ln>
                <a:solidFill>
                  <a:schemeClr val="tx1"/>
                </a:solidFill>
                <a:effectLst/>
                <a:uLnTx/>
                <a:uFillTx/>
                <a:latin typeface="Constantia" pitchFamily="18" charset="0"/>
                <a:ea typeface="+mj-ea"/>
                <a:cs typeface="+mj-cs"/>
              </a:rPr>
              <a:t>Conclusion </a:t>
            </a:r>
          </a:p>
        </p:txBody>
      </p:sp>
      <p:sp>
        <p:nvSpPr>
          <p:cNvPr id="3" name="Rectangle 2"/>
          <p:cNvSpPr/>
          <p:nvPr/>
        </p:nvSpPr>
        <p:spPr>
          <a:xfrm>
            <a:off x="285720" y="1071546"/>
            <a:ext cx="8215370" cy="461665"/>
          </a:xfrm>
          <a:prstGeom prst="rect">
            <a:avLst/>
          </a:prstGeom>
        </p:spPr>
        <p:txBody>
          <a:bodyPr wrap="square">
            <a:spAutoFit/>
          </a:bodyPr>
          <a:lstStyle/>
          <a:p>
            <a:r>
              <a:rPr lang="en-IN" sz="2400" b="1" i="1" u="sng" dirty="0" smtClean="0">
                <a:latin typeface="+mj-lt"/>
              </a:rPr>
              <a:t>Strategic and operational challenges:</a:t>
            </a:r>
            <a:endParaRPr lang="en-US" sz="2400" i="1" u="sng" dirty="0">
              <a:latin typeface="+mj-lt"/>
            </a:endParaRPr>
          </a:p>
        </p:txBody>
      </p:sp>
      <p:sp>
        <p:nvSpPr>
          <p:cNvPr id="5" name="TextBox 4"/>
          <p:cNvSpPr txBox="1"/>
          <p:nvPr/>
        </p:nvSpPr>
        <p:spPr>
          <a:xfrm>
            <a:off x="214282" y="1571612"/>
            <a:ext cx="8643998" cy="5016758"/>
          </a:xfrm>
          <a:prstGeom prst="rect">
            <a:avLst/>
          </a:prstGeom>
          <a:noFill/>
        </p:spPr>
        <p:txBody>
          <a:bodyPr wrap="square" rtlCol="0">
            <a:spAutoFit/>
          </a:bodyPr>
          <a:lstStyle/>
          <a:p>
            <a:pPr>
              <a:buFont typeface="Arial" pitchFamily="34" charset="0"/>
              <a:buChar char="•"/>
            </a:pPr>
            <a:r>
              <a:rPr lang="en-US" sz="1600" b="1" dirty="0" smtClean="0"/>
              <a:t>Health Regulations: </a:t>
            </a:r>
            <a:r>
              <a:rPr lang="en-US" sz="1600" dirty="0" smtClean="0"/>
              <a:t>Restrictions on sugar content and the increasing demand for healthier beverages jeopardise Coca-Cola's fundamental goods and pricing strategy.</a:t>
            </a:r>
          </a:p>
          <a:p>
            <a:endParaRPr lang="en-US" sz="1600" dirty="0" smtClean="0"/>
          </a:p>
          <a:p>
            <a:pPr>
              <a:buFont typeface="Arial" pitchFamily="34" charset="0"/>
              <a:buChar char="•"/>
            </a:pPr>
            <a:r>
              <a:rPr lang="en-US" sz="1600" b="1" dirty="0" smtClean="0"/>
              <a:t>Competition: </a:t>
            </a:r>
            <a:r>
              <a:rPr lang="en-US" sz="1600" dirty="0" smtClean="0"/>
              <a:t>Intense regional competitors diminish market share and undermine pricing authority</a:t>
            </a:r>
          </a:p>
          <a:p>
            <a:endParaRPr lang="en-US" sz="1600" dirty="0" smtClean="0"/>
          </a:p>
          <a:p>
            <a:pPr>
              <a:buFont typeface="Arial" pitchFamily="34" charset="0"/>
              <a:buChar char="•"/>
            </a:pPr>
            <a:r>
              <a:rPr lang="en-US" sz="1600" b="1" dirty="0" smtClean="0"/>
              <a:t>Ethical Risks: </a:t>
            </a:r>
            <a:r>
              <a:rPr lang="en-US" sz="1600" dirty="0" smtClean="0"/>
              <a:t>Sourcing and smuggling challenges in war zones provide reputational hazards.</a:t>
            </a:r>
          </a:p>
          <a:p>
            <a:endParaRPr lang="en-US" sz="1600" dirty="0" smtClean="0"/>
          </a:p>
          <a:p>
            <a:pPr>
              <a:buFont typeface="Arial" pitchFamily="34" charset="0"/>
              <a:buChar char="•"/>
            </a:pPr>
            <a:r>
              <a:rPr lang="en-US" sz="1600" b="1" dirty="0" smtClean="0"/>
              <a:t>Sustainability: </a:t>
            </a:r>
            <a:r>
              <a:rPr lang="en-US" sz="1600" dirty="0" smtClean="0"/>
              <a:t>The new 2030 packaging regulations compel Coca-Cola to choose recyclable and refillable alternatives.</a:t>
            </a:r>
          </a:p>
          <a:p>
            <a:endParaRPr lang="en-US" sz="1600" dirty="0" smtClean="0"/>
          </a:p>
          <a:p>
            <a:pPr>
              <a:buFont typeface="Arial" pitchFamily="34" charset="0"/>
              <a:buChar char="•"/>
            </a:pPr>
            <a:r>
              <a:rPr lang="en-US" sz="1600" b="1" dirty="0" smtClean="0"/>
              <a:t>Economic Pressures: </a:t>
            </a:r>
            <a:r>
              <a:rPr lang="en-US" sz="1600" dirty="0" smtClean="0"/>
              <a:t>Inflation and supply chain disruptions increase expenses and diminish profitability.</a:t>
            </a:r>
          </a:p>
          <a:p>
            <a:pPr>
              <a:buFont typeface="Arial" pitchFamily="34" charset="0"/>
              <a:buChar char="•"/>
            </a:pPr>
            <a:endParaRPr lang="en-US" sz="1600" dirty="0" smtClean="0"/>
          </a:p>
          <a:p>
            <a:pPr>
              <a:buFont typeface="Arial" pitchFamily="34" charset="0"/>
              <a:buChar char="•"/>
            </a:pPr>
            <a:r>
              <a:rPr lang="en-US" sz="1600" b="1" dirty="0" smtClean="0"/>
              <a:t>Rising expenses: </a:t>
            </a:r>
            <a:r>
              <a:rPr lang="en-US" sz="1600" dirty="0" smtClean="0"/>
              <a:t>Higher input and marketing expenditures to sustain sales lowered profitability ratios.</a:t>
            </a:r>
          </a:p>
          <a:p>
            <a:pPr>
              <a:buFont typeface="Arial" pitchFamily="34" charset="0"/>
              <a:buChar char="•"/>
            </a:pPr>
            <a:endParaRPr lang="en-US" sz="1600" dirty="0" smtClean="0"/>
          </a:p>
          <a:p>
            <a:pPr>
              <a:buFont typeface="Arial" pitchFamily="34" charset="0"/>
              <a:buChar char="•"/>
            </a:pPr>
            <a:r>
              <a:rPr lang="en-US" sz="1600" b="1" dirty="0" smtClean="0"/>
              <a:t>Debt Dependence: </a:t>
            </a:r>
            <a:r>
              <a:rPr lang="en-US" sz="1600" dirty="0" smtClean="0"/>
              <a:t>Rising debt-equity ratios indicate dependency on borrowing for operations and expansion, increasing solvency problems.</a:t>
            </a:r>
          </a:p>
          <a:p>
            <a:endParaRPr lang="en-US" sz="1600" dirty="0" smtClean="0"/>
          </a:p>
          <a:p>
            <a:pPr>
              <a:buFont typeface="Arial" pitchFamily="34" charset="0"/>
              <a:buChar char="•"/>
            </a:pPr>
            <a:r>
              <a:rPr lang="en-US" sz="1600" b="1" dirty="0" smtClean="0"/>
              <a:t>Liquidity Strain: </a:t>
            </a:r>
            <a:r>
              <a:rPr lang="en-US" sz="1600" dirty="0" smtClean="0"/>
              <a:t>Cash flow stability was hampered by increased short-term debt and foreign currency losses, lowering current and quick ratios.</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5720" y="785794"/>
            <a:ext cx="8215370" cy="461665"/>
          </a:xfrm>
          <a:prstGeom prst="rect">
            <a:avLst/>
          </a:prstGeom>
        </p:spPr>
        <p:txBody>
          <a:bodyPr wrap="square">
            <a:spAutoFit/>
          </a:bodyPr>
          <a:lstStyle/>
          <a:p>
            <a:r>
              <a:rPr lang="en-IN" sz="2400" b="1" i="1" u="sng" dirty="0" smtClean="0">
                <a:latin typeface="+mj-lt"/>
              </a:rPr>
              <a:t>Management reaction to issues:</a:t>
            </a:r>
            <a:endParaRPr lang="en-US" sz="2400" i="1" u="sng" dirty="0">
              <a:latin typeface="+mj-lt"/>
            </a:endParaRPr>
          </a:p>
        </p:txBody>
      </p:sp>
      <p:sp>
        <p:nvSpPr>
          <p:cNvPr id="3" name="TextBox 2"/>
          <p:cNvSpPr txBox="1"/>
          <p:nvPr/>
        </p:nvSpPr>
        <p:spPr>
          <a:xfrm>
            <a:off x="500034" y="1785926"/>
            <a:ext cx="8215370" cy="4247317"/>
          </a:xfrm>
          <a:prstGeom prst="rect">
            <a:avLst/>
          </a:prstGeom>
          <a:noFill/>
        </p:spPr>
        <p:txBody>
          <a:bodyPr wrap="square" rtlCol="0">
            <a:spAutoFit/>
          </a:bodyPr>
          <a:lstStyle/>
          <a:p>
            <a:pPr>
              <a:buFont typeface="Arial" pitchFamily="34" charset="0"/>
              <a:buChar char="•"/>
            </a:pPr>
            <a:r>
              <a:rPr lang="en-US" b="1" dirty="0" smtClean="0"/>
              <a:t>Operational Efficiency: </a:t>
            </a:r>
            <a:r>
              <a:rPr lang="en-US" dirty="0" smtClean="0"/>
              <a:t>Coca-Cola used its worldwide reach to improve its manufacturing and delivery.</a:t>
            </a:r>
          </a:p>
          <a:p>
            <a:endParaRPr lang="en-US" dirty="0" smtClean="0"/>
          </a:p>
          <a:p>
            <a:pPr>
              <a:buFont typeface="Arial" pitchFamily="34" charset="0"/>
              <a:buChar char="•"/>
            </a:pPr>
            <a:r>
              <a:rPr lang="en-US" b="1" dirty="0" smtClean="0"/>
              <a:t>Focus on sustainability: </a:t>
            </a:r>
            <a:r>
              <a:rPr lang="en-US" dirty="0" smtClean="0"/>
              <a:t>Used recycled packaging to cut down on pollution and reach green goals.</a:t>
            </a:r>
          </a:p>
          <a:p>
            <a:endParaRPr lang="en-US" dirty="0" smtClean="0"/>
          </a:p>
          <a:p>
            <a:pPr>
              <a:buFont typeface="Arial" pitchFamily="34" charset="0"/>
              <a:buChar char="•"/>
            </a:pPr>
            <a:r>
              <a:rPr lang="en-US" b="1" dirty="0" smtClean="0"/>
              <a:t>Digital Innovation: </a:t>
            </a:r>
            <a:r>
              <a:rPr lang="en-US" dirty="0" smtClean="0"/>
              <a:t>Used AI to get customers more involved and make the brand more visible.</a:t>
            </a:r>
          </a:p>
          <a:p>
            <a:endParaRPr lang="en-US" dirty="0" smtClean="0"/>
          </a:p>
          <a:p>
            <a:pPr>
              <a:buFont typeface="Arial" pitchFamily="34" charset="0"/>
              <a:buChar char="•"/>
            </a:pPr>
            <a:r>
              <a:rPr lang="en-US" b="1" dirty="0" smtClean="0"/>
              <a:t>Market Expansion: </a:t>
            </a:r>
            <a:r>
              <a:rPr lang="en-US" dirty="0" smtClean="0"/>
              <a:t>Expanded into emerging areas to compete with local businesses.</a:t>
            </a:r>
          </a:p>
          <a:p>
            <a:endParaRPr lang="en-US" dirty="0" smtClean="0"/>
          </a:p>
          <a:p>
            <a:pPr>
              <a:buFont typeface="Arial" pitchFamily="34" charset="0"/>
              <a:buChar char="•"/>
            </a:pPr>
            <a:r>
              <a:rPr lang="en-US" b="1" dirty="0" smtClean="0"/>
              <a:t>Strategic Partnerships: </a:t>
            </a:r>
            <a:r>
              <a:rPr lang="en-US" dirty="0" smtClean="0"/>
              <a:t>Strengthened relationships with suppliers and to ensure steady product availability.</a:t>
            </a:r>
          </a:p>
          <a:p>
            <a:pPr>
              <a:buFont typeface="Arial" pitchFamily="34" charset="0"/>
              <a:buChar char="•"/>
            </a:pPr>
            <a:endParaRPr lang="en-US" dirty="0" smtClean="0"/>
          </a:p>
          <a:p>
            <a:pPr>
              <a:buFont typeface="Arial" pitchFamily="34" charset="0"/>
              <a:buChar char="•"/>
            </a:pPr>
            <a:r>
              <a:rPr lang="en-US" b="1" dirty="0" smtClean="0"/>
              <a:t>Price Strategy:  </a:t>
            </a:r>
            <a:r>
              <a:rPr lang="en-US" dirty="0" smtClean="0"/>
              <a:t>Increased prices to offset inflation and maintain profitability.</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403</TotalTime>
  <Words>1768</Words>
  <Application>Microsoft Office PowerPoint</Application>
  <PresentationFormat>On-screen Show (4:3)</PresentationFormat>
  <Paragraphs>142</Paragraphs>
  <Slides>14</Slides>
  <Notes>1</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Slide 1</vt:lpstr>
      <vt:lpstr>Introduction to The Coca Cola Company and PepsiCo</vt:lpstr>
      <vt:lpstr>PESTLE Analysis</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HP</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HP</dc:creator>
  <cp:lastModifiedBy>HP</cp:lastModifiedBy>
  <cp:revision>40</cp:revision>
  <dcterms:created xsi:type="dcterms:W3CDTF">2025-11-04T17:09:11Z</dcterms:created>
  <dcterms:modified xsi:type="dcterms:W3CDTF">2025-11-06T06:31:00Z</dcterms:modified>
</cp:coreProperties>
</file>